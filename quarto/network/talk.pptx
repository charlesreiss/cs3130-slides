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5" Type="http://schemas.openxmlformats.org/officeDocument/2006/relationships/slide" Target="slides/slide124.xml" /><Relationship Id="rId126" Type="http://schemas.openxmlformats.org/officeDocument/2006/relationships/slide" Target="slides/slide125.xml" /><Relationship Id="rId127" Type="http://schemas.openxmlformats.org/officeDocument/2006/relationships/slide" Target="slides/slide126.xml" /><Relationship Id="rId128" Type="http://schemas.openxmlformats.org/officeDocument/2006/relationships/slide" Target="slides/slide127.xml" /><Relationship Id="rId129" Type="http://schemas.openxmlformats.org/officeDocument/2006/relationships/slide" Target="slides/slide128.xml" /><Relationship Id="rId130" Type="http://schemas.openxmlformats.org/officeDocument/2006/relationships/slide" Target="slides/slide129.xml" /><Relationship Id="rId131" Type="http://schemas.openxmlformats.org/officeDocument/2006/relationships/slide" Target="slides/slide130.xml" /><Relationship Id="rId132" Type="http://schemas.openxmlformats.org/officeDocument/2006/relationships/slide" Target="slides/slide131.xml" /><Relationship Id="rId133" Type="http://schemas.openxmlformats.org/officeDocument/2006/relationships/slide" Target="slides/slide132.xml" /><Relationship Id="rId134" Type="http://schemas.openxmlformats.org/officeDocument/2006/relationships/slide" Target="slides/slide133.xml" /><Relationship Id="rId135" Type="http://schemas.openxmlformats.org/officeDocument/2006/relationships/slide" Target="slides/slide134.xml" /><Relationship Id="rId136" Type="http://schemas.openxmlformats.org/officeDocument/2006/relationships/slide" Target="slides/slide135.xml" /><Relationship Id="rId137" Type="http://schemas.openxmlformats.org/officeDocument/2006/relationships/slide" Target="slides/slide136.xml" /><Relationship Id="rId138" Type="http://schemas.openxmlformats.org/officeDocument/2006/relationships/slide" Target="slides/slide137.xml" /><Relationship Id="rId139" Type="http://schemas.openxmlformats.org/officeDocument/2006/relationships/slide" Target="slides/slide138.xml" /><Relationship Id="rId140" Type="http://schemas.openxmlformats.org/officeDocument/2006/relationships/slide" Target="slides/slide139.xml" /><Relationship Id="rId141" Type="http://schemas.openxmlformats.org/officeDocument/2006/relationships/slide" Target="slides/slide140.xml" /><Relationship Id="rId142" Type="http://schemas.openxmlformats.org/officeDocument/2006/relationships/slide" Target="slides/slide141.xml" /><Relationship Id="rId143" Type="http://schemas.openxmlformats.org/officeDocument/2006/relationships/slide" Target="slides/slide142.xml" /><Relationship Id="rId144" Type="http://schemas.openxmlformats.org/officeDocument/2006/relationships/slide" Target="slides/slide143.xml" /><Relationship Id="rId145" Type="http://schemas.openxmlformats.org/officeDocument/2006/relationships/slide" Target="slides/slide144.xml" /><Relationship Id="rId146" Type="http://schemas.openxmlformats.org/officeDocument/2006/relationships/slide" Target="slides/slide145.xml" /><Relationship Id="rId147" Type="http://schemas.openxmlformats.org/officeDocument/2006/relationships/slide" Target="slides/slide146.xml" /><Relationship Id="rId148" Type="http://schemas.openxmlformats.org/officeDocument/2006/relationships/slide" Target="slides/slide147.xml" /><Relationship Id="rId149" Type="http://schemas.openxmlformats.org/officeDocument/2006/relationships/slide" Target="slides/slide148.xml" /><Relationship Id="rId151" Type="http://schemas.openxmlformats.org/officeDocument/2006/relationships/viewProps" Target="viewProps.xml" /><Relationship Id="rId15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3" Type="http://schemas.openxmlformats.org/officeDocument/2006/relationships/tableStyles" Target="tableStyles.xml" /><Relationship Id="rId15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jp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sv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sv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sv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sv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sv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sv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sv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sv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sv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sv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sv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svg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svg" /></Relationships>
</file>

<file path=ppt/slides/_rels/slide1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svg" /></Relationships>
</file>

<file path=ppt/slides/_rels/slide1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svg" /></Relationships>
</file>

<file path=ppt/slides/_rels/slide1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svg" /></Relationships>
</file>

<file path=ppt/slides/_rels/slide1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svg" /></Relationships>
</file>

<file path=ppt/slides/_rels/slide1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svg" /></Relationships>
</file>

<file path=ppt/slides/_rels/slide1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network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networking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networking: enable machine-to-machine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goal: enable </a:t>
            </a:r>
            <a:r>
              <a:rPr i="1"/>
              <a:t>applications</a:t>
            </a:r>
            <a:r>
              <a:rPr/>
              <a:t> that span multiple computers</a:t>
            </a:r>
          </a:p>
          <a:p>
            <a:pPr lvl="1"/>
            <a:r>
              <a:rPr/>
              <a:t>websites</a:t>
            </a:r>
          </a:p>
          <a:p>
            <a:pPr lvl="1"/>
            <a:r>
              <a:rPr/>
              <a:t>streaming video</a:t>
            </a:r>
          </a:p>
          <a:p>
            <a:pPr lvl="1"/>
            <a:r>
              <a:rPr/>
              <a:t>email</a:t>
            </a:r>
          </a:p>
          <a:p>
            <a:pPr lvl="1"/>
            <a:r>
              <a:rPr/>
              <a:t>chat</a:t>
            </a:r>
          </a:p>
          <a:p>
            <a:pPr lvl="1"/>
            <a:r>
              <a:rPr/>
              <a:t>…</a:t>
            </a:r>
          </a:p>
          <a:p>
            <a:pPr lvl="0"/>
            <a:r>
              <a:rPr/>
              <a:t>challenge: realities of the real-world</a:t>
            </a:r>
          </a:p>
          <a:p>
            <a:pPr lvl="1"/>
            <a:r>
              <a:rPr/>
              <a:t>massive scale</a:t>
            </a:r>
          </a:p>
          <a:p>
            <a:pPr lvl="1"/>
            <a:r>
              <a:rPr/>
              <a:t>consequences of success</a:t>
            </a:r>
          </a:p>
          <a:p>
            <a:pPr lvl="1"/>
            <a:r>
              <a:rPr/>
              <a:t>security</a:t>
            </a:r>
          </a:p>
          <a:p>
            <a:pPr lvl="1"/>
            <a:r>
              <a:rPr/>
              <a:t>geopolitical and economic concerns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sockets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sockets is the de-facto API for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open connection then …</a:t>
            </a:r>
          </a:p>
          <a:p>
            <a:pPr lvl="1"/>
            <a:r>
              <a:rPr/>
              <a:t>read+write just like a terminal file</a:t>
            </a:r>
          </a:p>
          <a:p>
            <a:pPr lvl="0"/>
            <a:r>
              <a:rPr/>
              <a:t>doesn’t look like individual messages</a:t>
            </a:r>
          </a:p>
          <a:p>
            <a:pPr lvl="0"/>
            <a:r>
              <a:rPr/>
              <a:t>‘‘connection abstraction’’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mailbox model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mailbox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mailbox abstraction: send/receive messages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connections over mailboxes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real Internet: mailbox-style communication</a:t>
            </a:r>
          </a:p>
          <a:p>
            <a:pPr lvl="1"/>
            <a:r>
              <a:rPr/>
              <a:t>send ‘‘letters’’ (packets) to particular mailboxes</a:t>
            </a:r>
          </a:p>
          <a:p>
            <a:pPr lvl="1"/>
            <a:r>
              <a:rPr/>
              <a:t>have ‘‘envelope’’ (header) saying where they go</a:t>
            </a:r>
          </a:p>
          <a:p>
            <a:pPr lvl="0"/>
            <a:r>
              <a:rPr/>
              <a:t>‘‘best-effort’’</a:t>
            </a:r>
          </a:p>
          <a:p>
            <a:pPr lvl="1"/>
            <a:r>
              <a:rPr/>
              <a:t>no guarantee on order, when received</a:t>
            </a:r>
          </a:p>
          <a:p>
            <a:pPr lvl="1"/>
            <a:r>
              <a:rPr/>
              <a:t>no guarantee on if received</a:t>
            </a:r>
          </a:p>
          <a:p>
            <a:pPr lvl="0"/>
            <a:r>
              <a:rPr/>
              <a:t>sockets implemented on top of this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review: connection abstraction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connections</a:t>
            </a:r>
          </a:p>
        </p:txBody>
      </p:sp>
      <p:pic>
        <p:nvPicPr>
          <p:cNvPr descr="../network/texfig/connection-model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3100" y="1193800"/>
            <a:ext cx="7785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layers preview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</a:t>
            </a:r>
          </a:p>
          <a:p>
            <a:pPr lvl="0" indent="0" marL="0">
              <a:buNone/>
            </a:pPr>
            <a:r>
              <a:rPr/>
              <a:t>HTTP, SSH, SMTP, …</a:t>
            </a:r>
          </a:p>
          <a:p>
            <a:pPr lvl="0" indent="0" marL="0">
              <a:buNone/>
            </a:pPr>
            <a:r>
              <a:rPr/>
              <a:t>application-defined meanings</a:t>
            </a:r>
          </a:p>
          <a:p>
            <a:pPr lvl="0" indent="0" marL="0">
              <a:buNone/>
            </a:pPr>
            <a:r>
              <a:rPr/>
              <a:t>transport</a:t>
            </a:r>
          </a:p>
          <a:p>
            <a:pPr lvl="0" indent="0" marL="0">
              <a:buNone/>
            </a:pPr>
            <a:r>
              <a:rPr/>
              <a:t>TCP, UDP, …</a:t>
            </a:r>
          </a:p>
          <a:p>
            <a:pPr lvl="0" indent="0" marL="0">
              <a:buNone/>
            </a:pPr>
            <a:r>
              <a:rPr/>
              <a:t>reach correct program reliability/streams</a:t>
            </a:r>
          </a:p>
          <a:p>
            <a:pPr lvl="0" indent="0" marL="0">
              <a:buNone/>
            </a:pPr>
            <a:r>
              <a:rPr/>
              <a:t>network</a:t>
            </a:r>
          </a:p>
          <a:p>
            <a:pPr lvl="0" indent="0" marL="0">
              <a:buNone/>
            </a:pPr>
            <a:r>
              <a:rPr/>
              <a:t>IPv4, IPv6</a:t>
            </a:r>
          </a:p>
          <a:p>
            <a:pPr lvl="0" indent="0" marL="0">
              <a:buNone/>
            </a:pPr>
            <a:r>
              <a:rPr/>
              <a:t>reach correct machine (across networks)</a:t>
            </a:r>
          </a:p>
          <a:p>
            <a:pPr lvl="0" indent="0" marL="0">
              <a:buNone/>
            </a:pPr>
            <a:r>
              <a:rPr/>
              <a:t>link</a:t>
            </a:r>
          </a:p>
          <a:p>
            <a:pPr lvl="0" indent="0" marL="0">
              <a:buNone/>
            </a:pPr>
            <a:r>
              <a:rPr/>
              <a:t>Ethernet, Wi-Fi, …</a:t>
            </a:r>
          </a:p>
          <a:p>
            <a:pPr lvl="0" indent="0" marL="0">
              <a:buNone/>
            </a:pPr>
            <a:r>
              <a:rPr/>
              <a:t>coordinate shared wire/radio</a:t>
            </a:r>
          </a:p>
          <a:p>
            <a:pPr lvl="0" indent="0" marL="0">
              <a:buNone/>
            </a:pPr>
            <a:r>
              <a:rPr/>
              <a:t>physical</a:t>
            </a:r>
          </a:p>
          <a:p>
            <a:pPr lvl="0" indent="0" marL="0">
              <a:buNone/>
            </a:pPr>
            <a:r>
              <a:rPr/>
              <a:t>Ethernet, Wi-Fi, …</a:t>
            </a:r>
          </a:p>
          <a:p>
            <a:pPr lvl="0" indent="0" marL="0">
              <a:buNone/>
            </a:pPr>
            <a:r>
              <a:rPr/>
              <a:t>encode bits for wire/radio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layers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</a:t>
            </a:r>
          </a:p>
          <a:p>
            <a:pPr lvl="0" indent="0" marL="0">
              <a:buNone/>
            </a:pPr>
            <a:r>
              <a:rPr/>
              <a:t>application-defined meanings</a:t>
            </a:r>
          </a:p>
          <a:p>
            <a:pPr lvl="0" indent="0" marL="0">
              <a:buNone/>
            </a:pPr>
            <a:r>
              <a:rPr/>
              <a:t> </a:t>
            </a:r>
          </a:p>
          <a:p>
            <a:pPr lvl="0" indent="0" marL="0">
              <a:buNone/>
            </a:pPr>
            <a:r>
              <a:rPr/>
              <a:t>transport</a:t>
            </a:r>
          </a:p>
          <a:p>
            <a:pPr lvl="0" indent="0" marL="0">
              <a:buNone/>
            </a:pPr>
            <a:r>
              <a:rPr/>
              <a:t>reach correct program, reliablity/streams</a:t>
            </a:r>
          </a:p>
          <a:p>
            <a:pPr lvl="0" indent="0" marL="0">
              <a:buNone/>
            </a:pPr>
            <a:r>
              <a:rPr/>
              <a:t>segments/datagrams</a:t>
            </a:r>
          </a:p>
          <a:p>
            <a:pPr lvl="0" indent="0" marL="0">
              <a:buNone/>
            </a:pPr>
            <a:r>
              <a:rPr/>
              <a:t>network</a:t>
            </a:r>
          </a:p>
          <a:p>
            <a:pPr lvl="0" indent="0" marL="0">
              <a:buNone/>
            </a:pPr>
            <a:r>
              <a:rPr/>
              <a:t>reach correct machine (across networks)</a:t>
            </a:r>
          </a:p>
          <a:p>
            <a:pPr lvl="0" indent="0" marL="0">
              <a:buNone/>
            </a:pPr>
            <a:r>
              <a:rPr/>
              <a:t>packets</a:t>
            </a:r>
          </a:p>
          <a:p>
            <a:pPr lvl="0" indent="0" marL="0">
              <a:buNone/>
            </a:pPr>
            <a:r>
              <a:rPr/>
              <a:t>link</a:t>
            </a:r>
          </a:p>
          <a:p>
            <a:pPr lvl="0" indent="0" marL="0">
              <a:buNone/>
            </a:pPr>
            <a:r>
              <a:rPr/>
              <a:t>coordinate shared wire/radio</a:t>
            </a:r>
          </a:p>
          <a:p>
            <a:pPr lvl="0" indent="0" marL="0">
              <a:buNone/>
            </a:pPr>
            <a:r>
              <a:rPr/>
              <a:t>frames</a:t>
            </a:r>
          </a:p>
          <a:p>
            <a:pPr lvl="0" indent="0" marL="0">
              <a:buNone/>
            </a:pPr>
            <a:r>
              <a:rPr/>
              <a:t>physical</a:t>
            </a:r>
          </a:p>
          <a:p>
            <a:pPr lvl="0" indent="0" marL="0">
              <a:buNone/>
            </a:pPr>
            <a:r>
              <a:rPr/>
              <a:t>encode bits for wire/radio</a:t>
            </a:r>
          </a:p>
          <a:p>
            <a:pPr lvl="0" indent="0" marL="0">
              <a:buNone/>
            </a:pPr>
            <a:r>
              <a:rPr/>
              <a:t> 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layer wrapping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upper layers implemented using lower layers</a:t>
            </a:r>
          </a:p>
          <a:p>
            <a:pPr lvl="0"/>
            <a:r>
              <a:rPr/>
              <a:t>example: implement reliable + large messages (transport layer)  by sending multiple unreliable messages across networks (network layer)</a:t>
            </a:r>
          </a:p>
          <a:p>
            <a:pPr lvl="0"/>
            <a:r>
              <a:rPr/>
              <a:t>example: implement reaching machine across networks (network layer)  by sending multiple messages on local networks (link layer)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handling network failures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reality: you don’t own the network!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the internet is a series of connected networks</a:t>
            </a:r>
          </a:p>
          <a:p>
            <a:pPr lvl="0"/>
            <a:r>
              <a:rPr/>
              <a:t>packets traverse routers within and between networks</a:t>
            </a:r>
          </a:p>
          <a:p>
            <a:pPr lvl="0"/>
            <a:r>
              <a:rPr/>
              <a:t>those networks provide ‘‘best-effort’’ service</a:t>
            </a:r>
          </a:p>
        </p:txBody>
      </p:sp>
      <p:pic>
        <p:nvPicPr>
          <p:cNvPr descr="../network/network-of-network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28700"/>
            <a:ext cx="51054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 limitations/failures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messages lost</a:t>
            </a:r>
          </a:p>
          <a:p>
            <a:pPr lvl="0"/>
            <a:r>
              <a:rPr/>
              <a:t>messages delayed/reordered</a:t>
            </a:r>
          </a:p>
          <a:p>
            <a:pPr lvl="0"/>
            <a:r>
              <a:rPr/>
              <a:t>messages limited in size</a:t>
            </a:r>
          </a:p>
          <a:p>
            <a:pPr lvl="0"/>
            <a:r>
              <a:rPr/>
              <a:t>messages corrupted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acknowledgments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dealing with network message lost</a:t>
            </a:r>
          </a:p>
        </p:txBody>
      </p:sp>
      <p:pic>
        <p:nvPicPr>
          <p:cNvPr descr="../network/texfig/fail-lost-dealing-with-network-message-lost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9800" y="1193800"/>
            <a:ext cx="7264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handling lost message: acknowledgements</a:t>
            </a:r>
          </a:p>
        </p:txBody>
      </p:sp>
      <p:pic>
        <p:nvPicPr>
          <p:cNvPr descr="../network/texfig/lostAck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97000" y="1193800"/>
            <a:ext cx="635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handling lost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exercise: lost acks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lost acknowledgement</a:t>
            </a:r>
          </a:p>
        </p:txBody>
      </p:sp>
      <p:pic>
        <p:nvPicPr>
          <p:cNvPr descr="../network/texfig/fail-lost-lost-ack-ex-exercise-lost-acknowledgement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57400"/>
            <a:ext cx="8229600" cy="165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how to fix this?</a:t>
            </a:r>
          </a:p>
          <a:p>
            <a:pPr lvl="0" indent="0" marL="0">
              <a:buNone/>
            </a:pPr>
            <a:r>
              <a:rPr/>
              <a:t>A.</a:t>
            </a:r>
          </a:p>
          <a:p>
            <a:pPr lvl="0" indent="0" marL="0">
              <a:buNone/>
            </a:pPr>
            <a:r>
              <a:rPr/>
              <a:t>machine A needs to send ‘‘Got ‘got it!’ ’’</a:t>
            </a:r>
          </a:p>
          <a:p>
            <a:pPr lvl="0" indent="0" marL="0">
              <a:buNone/>
            </a:pPr>
            <a:r>
              <a:rPr/>
              <a:t>B.</a:t>
            </a:r>
          </a:p>
          <a:p>
            <a:pPr lvl="0" indent="0" marL="0">
              <a:buNone/>
            </a:pPr>
            <a:r>
              <a:rPr/>
              <a:t>machine B should resend ‘‘Got it!’’ on its own</a:t>
            </a:r>
          </a:p>
          <a:p>
            <a:pPr lvl="0" indent="0" marL="0">
              <a:buNone/>
            </a:pPr>
            <a:r>
              <a:rPr/>
              <a:t>C.</a:t>
            </a:r>
          </a:p>
          <a:p>
            <a:pPr lvl="0" indent="0" marL="0">
              <a:buNone/>
            </a:pPr>
            <a:r>
              <a:rPr/>
              <a:t>machine A should resend the original message on its own</a:t>
            </a:r>
          </a:p>
          <a:p>
            <a:pPr lvl="0" indent="0" marL="0">
              <a:buNone/>
            </a:pPr>
            <a:r>
              <a:rPr/>
              <a:t>D.</a:t>
            </a:r>
          </a:p>
          <a:p>
            <a:pPr lvl="0" indent="0" marL="0">
              <a:buNone/>
            </a:pPr>
            <a:r>
              <a:rPr/>
              <a:t>none of these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send ‘‘Got ‘got it!’ ’’?</a:t>
            </a:r>
          </a:p>
          <a:p>
            <a:pPr lvl="1"/>
            <a:r>
              <a:rPr/>
              <a:t>same problem: Now send ‘Got Got Got it’?</a:t>
            </a:r>
          </a:p>
          <a:p>
            <a:pPr lvl="0"/>
            <a:r>
              <a:rPr/>
              <a:t>resend ‘‘Got it!’’ own its own?</a:t>
            </a:r>
          </a:p>
          <a:p>
            <a:pPr lvl="1"/>
            <a:r>
              <a:rPr/>
              <a:t>how many times? — B doesn’t have that info</a:t>
            </a:r>
          </a:p>
          <a:p>
            <a:pPr lvl="0"/>
            <a:r>
              <a:rPr/>
              <a:t>resend original message?</a:t>
            </a:r>
          </a:p>
          <a:p>
            <a:pPr lvl="1"/>
            <a:r>
              <a:rPr/>
              <a:t>yes!</a:t>
            </a:r>
          </a:p>
          <a:p>
            <a:pPr lvl="1"/>
            <a:r>
              <a:rPr/>
              <a:t>as far as machine A can see, exact same situation as losing original message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solution: lost acks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lost 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delayed acks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delayed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delayed 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splitting into multiple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splitting messages: try 1</a:t>
            </a:r>
          </a:p>
        </p:txBody>
      </p:sp>
      <p:pic>
        <p:nvPicPr>
          <p:cNvPr descr="../network/texfig/fail-split-splitting-messages-try-1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44600"/>
            <a:ext cx="8229600" cy="328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 reconstructed message:  The meeting is at 12pm.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splitting messages: try 1 — problem 1</a:t>
            </a:r>
          </a:p>
        </p:txBody>
      </p:sp>
      <p:pic>
        <p:nvPicPr>
          <p:cNvPr descr="../network/texfig/fail-split-splitting-messages-try-1-----problem-1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31900"/>
            <a:ext cx="8229600" cy="331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reconstructed message:  The meetingThe meeting is at 12pm.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other problems?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other scenarios where we’d also have problems?</a:t>
            </a:r>
          </a:p>
          <a:p>
            <a:pPr lvl="1" indent="0" marL="342900">
              <a:buNone/>
            </a:pPr>
            <a:r>
              <a:rPr/>
              <a:t>1.</a:t>
            </a:r>
          </a:p>
          <a:p>
            <a:pPr lvl="1" indent="0" marL="342900">
              <a:buNone/>
            </a:pPr>
            <a:r>
              <a:rPr/>
              <a:t>message (instead of acknowledgment) is lost</a:t>
            </a:r>
          </a:p>
          <a:p>
            <a:pPr lvl="1" indent="0" marL="342900">
              <a:buNone/>
            </a:pPr>
            <a:r>
              <a:rPr/>
              <a:t>2.</a:t>
            </a:r>
          </a:p>
          <a:p>
            <a:pPr lvl="1" indent="0" marL="342900">
              <a:buNone/>
            </a:pPr>
            <a:r>
              <a:rPr/>
              <a:t>first message from machine A is delayed a long time by network</a:t>
            </a:r>
          </a:p>
          <a:p>
            <a:pPr lvl="1" indent="0" marL="342900">
              <a:buNone/>
            </a:pPr>
            <a:r>
              <a:rPr/>
              <a:t>3.</a:t>
            </a:r>
          </a:p>
          <a:p>
            <a:pPr lvl="1" indent="0" marL="342900">
              <a:buNone/>
            </a:pPr>
            <a:r>
              <a:rPr/>
              <a:t>acknowledgment of second message lost instead of first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splitting messages: try 2</a:t>
            </a:r>
          </a:p>
        </p:txBody>
      </p:sp>
      <p:pic>
        <p:nvPicPr>
          <p:cNvPr descr="../network/texfig/fail-split-splitting-messages-try-2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11300"/>
            <a:ext cx="8229600" cy="275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reconstructed message:  The meeting is at 12pm.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splitting messages: try 2 — missed ack</a:t>
            </a:r>
          </a:p>
        </p:txBody>
      </p:sp>
      <p:pic>
        <p:nvPicPr>
          <p:cNvPr descr="../network/texfig/fail-split-splitting-messages-try-2-----missed-ack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31900"/>
            <a:ext cx="8229600" cy="331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reconstructed message:  The meeting is at 12pm.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splitting messages: try 2 — problem</a:t>
            </a:r>
          </a:p>
        </p:txBody>
      </p:sp>
      <p:pic>
        <p:nvPicPr>
          <p:cNvPr descr="../network/texfig/fail-split-splitting-messages-try-2-----problem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31900"/>
            <a:ext cx="8229600" cy="331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A thinks: part 1 + part 2 acknowleged!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splitting messages: version 3</a:t>
            </a:r>
          </a:p>
        </p:txBody>
      </p:sp>
      <p:pic>
        <p:nvPicPr>
          <p:cNvPr descr="../network/texfig/fail-split-splitting-messages-version-3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96900" y="1193800"/>
            <a:ext cx="7950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checksums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message corrupted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corruption: e.g., a bit flip</a:t>
            </a:r>
          </a:p>
          <a:p>
            <a:pPr lvl="1"/>
            <a:r>
              <a:rPr/>
              <a:t>sent: I LIKE CATS (49204C494B452043415453)</a:t>
            </a:r>
          </a:p>
          <a:p>
            <a:pPr lvl="1"/>
            <a:r>
              <a:rPr/>
              <a:t>recv: I LIKE BATS (49204C494B452042415453)</a:t>
            </a:r>
          </a:p>
          <a:p>
            <a:pPr lvl="0"/>
            <a:r>
              <a:rPr/>
              <a:t>instead of sending ‘‘message’’, send ‘‘message’’ + checksum</a:t>
            </a:r>
          </a:p>
          <a:p>
            <a:pPr lvl="1"/>
            <a:r>
              <a:rPr/>
              <a:t>checksum is some calculation using the original message</a:t>
            </a:r>
          </a:p>
          <a:p>
            <a:pPr lvl="1"/>
            <a:r>
              <a:rPr/>
              <a:t>ex: checksum(I LIKE CATS) = 0xD9</a:t>
            </a:r>
          </a:p>
          <a:p>
            <a:pPr lvl="1"/>
            <a:r>
              <a:rPr/>
              <a:t>send 49204C494B452043415453D9 </a:t>
            </a:r>
          </a:p>
          <a:p>
            <a:pPr lvl="0"/>
            <a:r>
              <a:rPr/>
              <a:t>receiver then also computes the checksum with the same data</a:t>
            </a:r>
          </a:p>
          <a:p>
            <a:pPr lvl="1"/>
            <a:r>
              <a:rPr/>
              <a:t>if matches: keep the message</a:t>
            </a:r>
          </a:p>
          <a:p>
            <a:pPr lvl="1"/>
            <a:r>
              <a:rPr/>
              <a:t>if does not match: pretend like the message was lost (i.e., drop the message)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aside: going faster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going faster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 far: send one message, wait for acknowledgment</a:t>
            </a:r>
          </a:p>
          <a:p>
            <a:pPr lvl="0"/>
            <a:r>
              <a:rPr/>
              <a:t>very slow!</a:t>
            </a:r>
          </a:p>
          <a:p>
            <a:pPr lvl="0"/>
            <a:r>
              <a:rPr/>
              <a:t>instead, can send a bunch of parts and get them acknowledged together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transmission window (ex: size 4)</a:t>
            </a:r>
          </a:p>
        </p:txBody>
      </p:sp>
      <p:pic>
        <p:nvPicPr>
          <p:cNvPr descr="../network/texfig/split-faster-transmission-window-ex-size-4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44600"/>
            <a:ext cx="8229600" cy="328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Send a window of parts speculatively, then wait for ACKs.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UDP v TCP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transport layer protocols: UDP vs. TCP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TCP: stream to other program</a:t>
                </a:r>
              </a:p>
              <a:p>
                <a:pPr lvl="1"/>
                <a:r>
                  <a:rPr/>
                  <a:t>reliable transmission of as much data as you want</a:t>
                </a:r>
              </a:p>
              <a:p>
                <a:pPr lvl="1"/>
                <a:r>
                  <a:rPr/>
                  <a:t>‘‘connecting’’ fails if server not responding</a:t>
                </a:r>
              </a:p>
              <a:p>
                <a:pPr lvl="1"/>
                <a:r>
                  <a:rPr/>
                  <a:t>write(fd, “a”, 1); write(fd, “b”, 1) = write(fd, “ab”, 2)</a:t>
                </a:r>
              </a:p>
              <a:p>
                <a:pPr lvl="1"/>
                <a:r>
                  <a:rPr/>
                  <a:t>(at least) one socket per remote program being talked to</a:t>
                </a:r>
              </a:p>
              <a:p>
                <a:pPr lvl="0"/>
                <a:r>
                  <a:rPr/>
                  <a:t>UDP: messages sent to program, but no reliablity/streams</a:t>
                </a:r>
              </a:p>
              <a:p>
                <a:pPr lvl="1"/>
                <a:r>
                  <a:rPr/>
                  <a:t>unreliable transmission of short messages</a:t>
                </a:r>
              </a:p>
              <a:p>
                <a:pPr lvl="1"/>
                <a:r>
                  <a:rPr/>
                  <a:t>write(fd, “a”, 1); write(fd, “b”, 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≠</m:t>
                    </m:r>
                  </m:oMath>
                </a14:m>
                <a:r>
                  <a:rPr/>
                  <a:t> write(fd, “ab”, 2)</a:t>
                </a:r>
              </a:p>
              <a:p>
                <a:pPr lvl="1"/>
                <a:r>
                  <a:rPr/>
                  <a:t>‘‘connecting’’ just sets default destination</a:t>
                </a:r>
              </a:p>
              <a:p>
                <a:pPr lvl="1"/>
                <a:r>
                  <a:rPr/>
                  <a:t>can sendto()/recvfrom() multiple other programs with one socket</a:t>
                </a:r>
              </a:p>
              <a:p>
                <a:pPr lvl="2"/>
                <a:r>
                  <a:rPr/>
                  <a:t>(but don’t have to)</a:t>
                </a:r>
              </a:p>
            </p:txBody>
          </p:sp>
        </mc:Choice>
      </mc:AlternateContent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addresses versus names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mailbox model: importance of 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mailbox abstraction: send/receive messages 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names and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name</a:t>
            </a:r>
          </a:p>
          <a:p>
            <a:pPr lvl="0" indent="0" marL="0">
              <a:buNone/>
            </a:pPr>
            <a:r>
              <a:rPr/>
              <a:t>address</a:t>
            </a:r>
          </a:p>
          <a:p>
            <a:pPr lvl="0" indent="0" marL="0">
              <a:buNone/>
            </a:pPr>
            <a:r>
              <a:rPr/>
              <a:t>logical identifier</a:t>
            </a:r>
          </a:p>
          <a:p>
            <a:pPr lvl="0" indent="0" marL="0">
              <a:buNone/>
            </a:pPr>
            <a:r>
              <a:rPr/>
              <a:t>location/how to locate</a:t>
            </a:r>
          </a:p>
          <a:p>
            <a:pPr lvl="0" indent="0" marL="0">
              <a:buNone/>
            </a:pPr>
            <a:r>
              <a:rPr/>
              <a:t> </a:t>
            </a:r>
          </a:p>
          <a:p>
            <a:pPr lvl="0" indent="0" marL="0">
              <a:buNone/>
            </a:pPr>
            <a:r>
              <a:rPr/>
              <a:t> </a:t>
            </a:r>
          </a:p>
          <a:p>
            <a:pPr lvl="0" indent="0" marL="0">
              <a:buNone/>
            </a:pPr>
            <a:r>
              <a:rPr/>
              <a:t>variable counter</a:t>
            </a:r>
          </a:p>
          <a:p>
            <a:pPr lvl="0" indent="0" marL="0">
              <a:buNone/>
            </a:pPr>
            <a:r>
              <a:rPr/>
              <a:t>memory address 0x7FFF9430</a:t>
            </a:r>
          </a:p>
          <a:p>
            <a:pPr lvl="0" indent="0" marL="0">
              <a:buNone/>
            </a:pPr>
            <a:r>
              <a:rPr/>
              <a:t> </a:t>
            </a:r>
          </a:p>
          <a:p>
            <a:pPr lvl="0" indent="0" marL="0">
              <a:buNone/>
            </a:pPr>
            <a:r>
              <a:rPr/>
              <a:t> </a:t>
            </a:r>
          </a:p>
          <a:p>
            <a:pPr lvl="0" indent="0" marL="0">
              <a:buNone/>
            </a:pPr>
            <a:r>
              <a:rPr/>
              <a:t>DNS name www.virginia.edu</a:t>
            </a:r>
          </a:p>
          <a:p>
            <a:pPr lvl="0" indent="0" marL="0">
              <a:buNone/>
            </a:pPr>
            <a:r>
              <a:rPr/>
              <a:t>IPv4 address 128.143.22.36</a:t>
            </a:r>
          </a:p>
          <a:p>
            <a:pPr lvl="0" indent="0" marL="0">
              <a:buNone/>
            </a:pPr>
            <a:r>
              <a:rPr/>
              <a:t>DNS name mail.google.com</a:t>
            </a:r>
          </a:p>
          <a:p>
            <a:pPr lvl="0" indent="0" marL="0">
              <a:buNone/>
            </a:pPr>
            <a:r>
              <a:rPr/>
              <a:t>IPv4 address 216.58.217.69</a:t>
            </a:r>
          </a:p>
          <a:p>
            <a:pPr lvl="0" indent="0" marL="0">
              <a:buNone/>
            </a:pPr>
            <a:r>
              <a:rPr/>
              <a:t>DNS name mail.google.com</a:t>
            </a:r>
          </a:p>
          <a:p>
            <a:pPr lvl="0" indent="0" marL="0">
              <a:buNone/>
            </a:pPr>
            <a:r>
              <a:rPr/>
              <a:t>IPv6 address 2607:f8b0:4004:80b::2005</a:t>
            </a:r>
          </a:p>
          <a:p>
            <a:pPr lvl="0" indent="0" marL="0">
              <a:buNone/>
            </a:pPr>
            <a:r>
              <a:rPr/>
              <a:t>DNS name cso2.cs.virginia.edu</a:t>
            </a:r>
          </a:p>
          <a:p>
            <a:pPr lvl="0" indent="0" marL="0">
              <a:buNone/>
            </a:pPr>
            <a:r>
              <a:rPr/>
              <a:t>IPv4 address 128.143.67.91</a:t>
            </a:r>
          </a:p>
          <a:p>
            <a:pPr lvl="0" indent="0" marL="0">
              <a:buNone/>
            </a:pPr>
            <a:r>
              <a:rPr/>
              <a:t>DNS name cso2.cs.virginia.edu</a:t>
            </a:r>
          </a:p>
          <a:p>
            <a:pPr lvl="0" indent="0" marL="0">
              <a:buNone/>
            </a:pPr>
            <a:r>
              <a:rPr/>
              <a:t>MAC address 18:66:da:2e:7f:da</a:t>
            </a:r>
          </a:p>
          <a:p>
            <a:pPr lvl="0" indent="0" marL="0">
              <a:buNone/>
            </a:pPr>
            <a:r>
              <a:rPr/>
              <a:t> </a:t>
            </a:r>
          </a:p>
          <a:p>
            <a:pPr lvl="0" indent="0" marL="0">
              <a:buNone/>
            </a:pPr>
            <a:r>
              <a:rPr/>
              <a:t> </a:t>
            </a:r>
          </a:p>
          <a:p>
            <a:pPr lvl="0" indent="0" marL="0">
              <a:buNone/>
            </a:pPr>
            <a:r>
              <a:rPr/>
              <a:t>service name https</a:t>
            </a:r>
          </a:p>
          <a:p>
            <a:pPr lvl="0" indent="0" marL="0">
              <a:buNone/>
            </a:pPr>
            <a:r>
              <a:rPr/>
              <a:t>port number 443</a:t>
            </a:r>
          </a:p>
          <a:p>
            <a:pPr lvl="0" indent="0" marL="0">
              <a:buNone/>
            </a:pPr>
            <a:r>
              <a:rPr/>
              <a:t>service name ssh</a:t>
            </a:r>
          </a:p>
          <a:p>
            <a:pPr lvl="0" indent="0" marL="0">
              <a:buNone/>
            </a:pPr>
            <a:r>
              <a:rPr/>
              <a:t>port number 22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IP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network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Internet Protocol (IP) version 4 or version 6</a:t>
            </a:r>
          </a:p>
          <a:p>
            <a:pPr lvl="1"/>
            <a:r>
              <a:rPr/>
              <a:t>there are also others, but quite uncommon today</a:t>
            </a:r>
          </a:p>
          <a:p>
            <a:pPr lvl="0"/>
            <a:r>
              <a:rPr/>
              <a:t>allows send messages to/recv messages from other networks</a:t>
            </a:r>
          </a:p>
          <a:p>
            <a:pPr lvl="1"/>
            <a:r>
              <a:rPr/>
              <a:t>‘‘internetwork’’</a:t>
            </a:r>
          </a:p>
          <a:p>
            <a:pPr lvl="0"/>
            <a:r>
              <a:rPr/>
              <a:t>messages called ‘‘packets’’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IPv4 addresses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IPv4 addresses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32-bit numbers</a:t>
                </a:r>
              </a:p>
              <a:p>
                <a:pPr lvl="0"/>
                <a:r>
                  <a:rPr/>
                  <a:t>typically written like 128.143.67.11</a:t>
                </a:r>
              </a:p>
              <a:p>
                <a:pPr lvl="1"/>
                <a:r>
                  <a:rPr/>
                  <a:t>four 8-bit decimal values separated by dots</a:t>
                </a:r>
              </a:p>
              <a:p>
                <a:pPr lvl="1"/>
                <a:r>
                  <a:rPr/>
                  <a:t>first part is most significant</a:t>
                </a:r>
              </a:p>
              <a:p>
                <a:pPr lvl="1"/>
                <a:r>
                  <a:rPr/>
                  <a:t>same as </a:t>
                </a:r>
                <a14:m>
                  <m:oMath xmlns:m="http://schemas.openxmlformats.org/officeDocument/2006/math">
                    <m:r>
                      <m:t>128</m:t>
                    </m:r>
                    <m:r>
                      <m:rPr>
                        <m:sty m:val="p"/>
                      </m:rPr>
                      <m:t>⋅</m:t>
                    </m:r>
                    <m:sSup>
                      <m:e>
                        <m:r>
                          <m:t>256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143</m:t>
                    </m:r>
                    <m:r>
                      <m:rPr>
                        <m:sty m:val="p"/>
                      </m:rPr>
                      <m:t>⋅</m:t>
                    </m:r>
                    <m:sSup>
                      <m:e>
                        <m:r>
                          <m:t>256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67</m:t>
                    </m:r>
                    <m:r>
                      <m:rPr>
                        <m:sty m:val="p"/>
                      </m:rPr>
                      <m:t>⋅</m:t>
                    </m:r>
                    <m:r>
                      <m:t>256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11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t> </m:t>
                    </m:r>
                    <m:r>
                      <m:t>156</m:t>
                    </m:r>
                    <m:r>
                      <m:t> </m:t>
                    </m:r>
                    <m:r>
                      <m:t>782</m:t>
                    </m:r>
                    <m:r>
                      <m:t> </m:t>
                    </m:r>
                    <m:r>
                      <m:t>459</m:t>
                    </m:r>
                  </m:oMath>
                </a14:m>
              </a:p>
              <a:p>
                <a:pPr lvl="0"/>
                <a:r>
                  <a:rPr/>
                  <a:t>organizations get blocks of IPs</a:t>
                </a:r>
              </a:p>
              <a:p>
                <a:pPr lvl="1"/>
                <a:r>
                  <a:rPr/>
                  <a:t>e.g. UVa has 128.143.0.0–128.143.255.255</a:t>
                </a:r>
              </a:p>
              <a:p>
                <a:pPr lvl="1"/>
                <a:r>
                  <a:rPr/>
                  <a:t>e.g. Google has 216.58.192.0–216.58.223.255 and 74.125.0.0–74.125.255.255 and 35.192.0.0–35.207.255.255</a:t>
                </a:r>
              </a:p>
              <a:p>
                <a:pPr lvl="0"/>
                <a:r>
                  <a:rPr/>
                  <a:t>some IPs reserved for non-Internet use (127.10.x.x, 192.168.x.x)</a:t>
                </a:r>
              </a:p>
            </p:txBody>
          </p:sp>
        </mc:Choice>
      </mc:AlternateContent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IPv6 addresses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IPv6 addresses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IPv6 like IPv4, but with 128-bit numbers</a:t>
                </a:r>
              </a:p>
              <a:p>
                <a:pPr lvl="0"/>
                <a:r>
                  <a:rPr/>
                  <a:t>written in hex, 16-bit parts, seperated by colons (:)</a:t>
                </a:r>
              </a:p>
              <a:p>
                <a:pPr lvl="0"/>
                <a:r>
                  <a:rPr/>
                  <a:t>strings of 0s represented by double-colons (::)</a:t>
                </a:r>
              </a:p>
              <a:p>
                <a:pPr lvl="0"/>
                <a:r>
                  <a:rPr/>
                  <a:t>typically given to users in blocks of </a:t>
                </a:r>
                <a14:m>
                  <m:oMath xmlns:m="http://schemas.openxmlformats.org/officeDocument/2006/math">
                    <m:sSup>
                      <m:e>
                        <m:r>
                          <m:t>2</m:t>
                        </m:r>
                      </m:e>
                      <m:sup>
                        <m:r>
                          <m:t>80</m:t>
                        </m:r>
                      </m:sup>
                    </m:sSup>
                  </m:oMath>
                </a14:m>
                <a:r>
                  <a:rPr/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t>2</m:t>
                        </m:r>
                      </m:e>
                      <m:sup>
                        <m:r>
                          <m:t>64</m:t>
                        </m:r>
                      </m:sup>
                    </m:sSup>
                  </m:oMath>
                </a14:m>
                <a:r>
                  <a:rPr/>
                  <a:t> addresses</a:t>
                </a:r>
              </a:p>
              <a:p>
                <a:pPr lvl="1"/>
                <a:r>
                  <a:rPr/>
                  <a:t>no need for address translation?</a:t>
                </a:r>
              </a:p>
              <a:p>
                <a:pPr lvl="0"/>
                <a:r>
                  <a:rPr/>
                  <a:t>2607:f8b0:400d:c00::6a =  2607:f8b0:400d:0c00:0000:0000:0000:006a</a:t>
                </a:r>
              </a:p>
              <a:p>
                <a:pPr lvl="1"/>
                <a:r>
                  <a:rPr/>
                  <a:t>2607f8b0400d0c0000000000000006a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SIXTEEN</m:t>
                        </m:r>
                      </m:sub>
                    </m:sSub>
                  </m:oMath>
                </a14:m>
              </a:p>
            </p:txBody>
          </p:sp>
        </mc:Choice>
      </mc:AlternateContent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routing idea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IPv4 addresses and routing tables</a:t>
            </a:r>
          </a:p>
        </p:txBody>
      </p:sp>
      <p:pic>
        <p:nvPicPr>
          <p:cNvPr descr="../network/texfig/routing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97100" y="1193800"/>
            <a:ext cx="476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lab API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upcoming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request + receive message split into pieces</a:t>
            </a:r>
          </a:p>
          <a:p>
            <a:pPr lvl="0"/>
            <a:r>
              <a:rPr/>
              <a:t>you are responsible for:</a:t>
            </a:r>
          </a:p>
          <a:p>
            <a:pPr lvl="1"/>
            <a:r>
              <a:rPr/>
              <a:t>requesting parts in order</a:t>
            </a:r>
          </a:p>
          <a:p>
            <a:pPr lvl="1"/>
            <a:r>
              <a:rPr/>
              <a:t>resending requests if messages lost/corrupted</a:t>
            </a:r>
          </a:p>
          <a:p>
            <a:pPr lvl="0"/>
            <a:r>
              <a:rPr/>
              <a:t>‘‘acknowledge’’ receiving part X to request part X+1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protocol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>
                    <a:latin typeface="Courier"/>
                  </a:rPr>
                  <a:t>GET(x)</a:t>
                </a:r>
                <a:r>
                  <a:rPr/>
                  <a:t> — retrieve message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(x = 0, 1, 2, or 3)</a:t>
                </a:r>
              </a:p>
              <a:p>
                <a:pPr lvl="1"/>
                <a:r>
                  <a:rPr/>
                  <a:t>other end acknowledges by giving data</a:t>
                </a:r>
              </a:p>
              <a:p>
                <a:pPr lvl="1"/>
                <a:r>
                  <a:rPr/>
                  <a:t>if they don’t reply, you need to send again</a:t>
                </a:r>
              </a:p>
              <a:p>
                <a:pPr lvl="1"/>
                <a:r>
                  <a:rPr/>
                  <a:t>higher numbered messages have errors/etc. that are harder to handle</a:t>
                </a:r>
              </a:p>
              <a:p>
                <a:pPr lvl="0"/>
                <a:r>
                  <a:rPr>
                    <a:latin typeface="Courier"/>
                  </a:rPr>
                  <a:t>ACK(n)</a:t>
                </a:r>
              </a:p>
              <a:p>
                <a:pPr lvl="1"/>
                <a:r>
                  <a:rPr/>
                  <a:t>request message part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</m:oMath>
                </a14:m>
                <a:r>
                  <a:rPr/>
                  <a:t> by acknowledging message part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</a:p>
              <a:p>
                <a:pPr lvl="1"/>
                <a:r>
                  <a:rPr/>
                  <a:t>not quite same purpose as acknowledgments in prior examples</a:t>
                </a:r>
              </a:p>
              <a:p>
                <a:pPr lvl="1"/>
                <a:r>
                  <a:rPr/>
                  <a:t>(in lab, the response is your ‘acknowledgment’ of your request;  you retry if you don’t get it)</a:t>
                </a:r>
              </a:p>
            </p:txBody>
          </p:sp>
        </mc:Choice>
      </mc:AlternateContent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callback-based programming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/* library code you don't write */
/* lab: part of waitForAllTimeoutsAndMessagesThenExit() */
void mainLoop() {
    while (notExiting) {
        Event event = waitForAndGetNextEvent();
        if (event.type == RECIEVED) {
            recvd(...);
        } else if (event.type == TIMEOUT) {
            (event.timeout_function)(...);
        }
        ...
    }
}
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callback-based programming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/* your code, called by library */
void recvd(...) {
    ...
    setTimeout(..., timerCallback, ...);
}
void timerCallback(...) {
    ...
}
int main() {
    send(.../* first message */);
    ... /* other initial setup */
    waitForAllTimeoutsAndMessagesThenExit(); // runs mainLoop()
}
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callback-based programing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packet = getNextPacket()
doSomething(packet);
sleep(10);
doAnotherThing();
packet = getNextPacket();
doYetAnotherThing(packet);
</a:t>
            </a:r>
          </a:p>
          <a:p>
            <a:pPr lvl="0" indent="0" marL="0">
              <a:buNone/>
            </a:pPr>
            <a:r>
              <a:rPr/>
              <a:t>turns into code like:</a:t>
            </a:r>
          </a:p>
          <a:p>
            <a:pPr lvl="0" indent="0">
              <a:buNone/>
            </a:pPr>
            <a:r>
              <a:rPr>
                <a:latin typeface="Courier"/>
              </a:rPr>
              <a:t>afterTimeout() {
    doAnotherThing(); mode = 2;
}
recvdPacket(packet) {
    if (mode == 1) {
        doSomething(packet);
        setTimeout(10, afterTimeout);
    } else if (mode == 2)
        doYetAnotherThing(packet);
    } else ...
}
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callback-based programming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writing scripts in a webpage</a:t>
            </a:r>
          </a:p>
          <a:p>
            <a:pPr lvl="0"/>
            <a:r>
              <a:rPr/>
              <a:t>many graphical user interface libraries</a:t>
            </a:r>
          </a:p>
          <a:p>
            <a:pPr lvl="0"/>
            <a:r>
              <a:rPr/>
              <a:t>sometimes servers that handle lots of connections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layers, revisited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port numbers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run multiple programs on a machine</a:t>
            </a:r>
          </a:p>
          <a:p>
            <a:pPr lvl="1"/>
            <a:r>
              <a:rPr/>
              <a:t>IP addresses identifying machine — not enough</a:t>
            </a:r>
          </a:p>
          <a:p>
            <a:pPr lvl="0"/>
            <a:r>
              <a:rPr/>
              <a:t>so, add 16-bit port numbers</a:t>
            </a:r>
          </a:p>
          <a:p>
            <a:pPr lvl="1"/>
            <a:r>
              <a:rPr/>
              <a:t>think: multiple PO boxes at address</a:t>
            </a:r>
          </a:p>
          <a:p>
            <a:pPr lvl="0"/>
            <a:r>
              <a:rPr/>
              <a:t>0–49151: typically assigned for particular services</a:t>
            </a:r>
          </a:p>
          <a:p>
            <a:pPr lvl="1"/>
            <a:r>
              <a:rPr/>
              <a:t>80 = http, 443 = https, 22 = ssh, …</a:t>
            </a:r>
          </a:p>
          <a:p>
            <a:pPr lvl="0"/>
            <a:r>
              <a:rPr/>
              <a:t>49152–65535: allocated on demand</a:t>
            </a:r>
          </a:p>
          <a:p>
            <a:pPr lvl="1"/>
            <a:r>
              <a:rPr/>
              <a:t>default ‘‘return address’’ for client connecting to server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OS tracking connections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connections in TCP/IP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connection identified by 4-tuple</a:t>
            </a:r>
          </a:p>
          <a:p>
            <a:pPr lvl="1"/>
            <a:r>
              <a:rPr/>
              <a:t>used by OS to lookup ‘‘where is the socket?’’</a:t>
            </a:r>
          </a:p>
          <a:p>
            <a:pPr lvl="0"/>
            <a:r>
              <a:rPr/>
              <a:t>(local IP address, local port, remote IP address, remote port)</a:t>
            </a:r>
          </a:p>
          <a:p>
            <a:pPr lvl="0"/>
            <a:r>
              <a:rPr/>
              <a:t>local IP address, port number can be set with bind() function</a:t>
            </a:r>
          </a:p>
          <a:p>
            <a:pPr lvl="1"/>
            <a:r>
              <a:rPr/>
              <a:t>typically always done for servers, not done for clients</a:t>
            </a:r>
          </a:p>
          <a:p>
            <a:pPr lvl="1"/>
            <a:r>
              <a:rPr/>
              <a:t>system will choose default if you don’t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DNS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DNS: Domain Name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URLs and URIs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URL / URIs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Uniform Resource Locators (URL)</a:t>
            </a:r>
          </a:p>
          <a:p>
            <a:pPr lvl="1"/>
            <a:r>
              <a:rPr/>
              <a:t>tells how to find ‘‘resource’’ on network</a:t>
            </a:r>
          </a:p>
          <a:p>
            <a:pPr lvl="1"/>
            <a:r>
              <a:rPr/>
              <a:t>uniform — one syntax for multiple protocols (types of servers, etc.)</a:t>
            </a:r>
          </a:p>
          <a:p>
            <a:pPr lvl="0"/>
            <a:r>
              <a:rPr/>
              <a:t>Unifrom Resources Identifiers</a:t>
            </a:r>
          </a:p>
          <a:p>
            <a:pPr lvl="1"/>
            <a:r>
              <a:rPr/>
              <a:t>superset of URLs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URI examples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URI generally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scheme://authority/path?query#fragment
</a:t>
            </a:r>
          </a:p>
          <a:p>
            <a:pPr lvl="0"/>
            <a:r>
              <a:rPr/>
              <a:t>scheme: — what protocol</a:t>
            </a:r>
          </a:p>
          <a:p>
            <a:pPr lvl="0"/>
            <a:r>
              <a:rPr/>
              <a:t>//authority/</a:t>
            </a:r>
          </a:p>
          <a:p>
            <a:pPr lvl="1"/>
            <a:r>
              <a:rPr/>
              <a:t>authoirty = user@host:port OR host:port OR user@host OR host</a:t>
            </a:r>
          </a:p>
          <a:p>
            <a:pPr lvl="0"/>
            <a:r>
              <a:rPr/>
              <a:t>path</a:t>
            </a:r>
          </a:p>
          <a:p>
            <a:pPr lvl="1"/>
            <a:r>
              <a:rPr/>
              <a:t>which resource</a:t>
            </a:r>
          </a:p>
          <a:p>
            <a:pPr lvl="0"/>
            <a:r>
              <a:rPr/>
              <a:t>?query — usually key/value pairs</a:t>
            </a:r>
          </a:p>
          <a:p>
            <a:pPr lvl="0"/>
            <a:r>
              <a:rPr/>
              <a:t>#fragment — place in resource</a:t>
            </a:r>
          </a:p>
          <a:p>
            <a:pPr lvl="0"/>
            <a:r>
              <a:rPr/>
              <a:t>most components (sometimes) optional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HTTP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HTTP: HyperText Transfer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primary application-layer protocol for the Web</a:t>
            </a:r>
          </a:p>
          <a:p>
            <a:pPr lvl="0"/>
            <a:r>
              <a:rPr/>
              <a:t>standard port: 80 (non-encrypted), 443 (encrypted)</a:t>
            </a:r>
          </a:p>
          <a:p>
            <a:pPr lvl="0"/>
            <a:r>
              <a:rPr/>
              <a:t>uses TCP (or TCP + TLS for encrypted version)</a:t>
            </a:r>
          </a:p>
          <a:p>
            <a:pPr lvl="0"/>
            <a:r>
              <a:rPr/>
              <a:t>client-server protocol</a:t>
            </a:r>
          </a:p>
          <a:p>
            <a:pPr lvl="1"/>
            <a:r>
              <a:rPr/>
              <a:t>server = always on machine, never initiaites contact</a:t>
            </a:r>
          </a:p>
          <a:p>
            <a:pPr lvl="1"/>
            <a:r>
              <a:rPr/>
              <a:t>client = sometimes on machine, initiates contact</a:t>
            </a:r>
          </a:p>
          <a:p>
            <a:pPr lvl="0"/>
            <a:r>
              <a:rPr/>
              <a:t>ex. URL: http://www.foo.com/bar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HTTP: HyperText Transfer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http://www.foo.com/bar</a:t>
            </a:r>
          </a:p>
          <a:p>
            <a:pPr lvl="0"/>
            <a:r>
              <a:rPr/>
              <a:t>HTTP client (example: web browser) connects via TCP to www.foo.com</a:t>
            </a:r>
          </a:p>
          <a:p>
            <a:pPr lvl="0"/>
            <a:r>
              <a:rPr/>
              <a:t>sends something like</a:t>
            </a:r>
          </a:p>
          <a:p>
            <a:pPr lvl="0" indent="0">
              <a:buNone/>
            </a:pPr>
            <a:r>
              <a:rPr>
                <a:latin typeface="Courier"/>
              </a:rPr>
              <a:t>GET /bar HTTP/1.1
Host: www.foo.com
...
</a:t>
            </a:r>
          </a:p>
          <a:p>
            <a:pPr lvl="0"/>
            <a:r>
              <a:rPr/>
              <a:t>server replies with status code + (usually) some data</a:t>
            </a:r>
          </a:p>
          <a:p>
            <a:pPr lvl="1"/>
            <a:r>
              <a:rPr/>
              <a:t>200 OK, 403 Unauthorized 404 Not Found, 500 Internal Server Error, …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 miscellany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other HTTP commands besides GET</a:t>
            </a:r>
          </a:p>
          <a:p>
            <a:pPr lvl="0"/>
            <a:r>
              <a:rPr/>
              <a:t>POST — sending forms</a:t>
            </a:r>
          </a:p>
          <a:p>
            <a:pPr lvl="0"/>
            <a:r>
              <a:rPr/>
              <a:t>HEAD — get metadata about file (without getting its data)</a:t>
            </a:r>
          </a:p>
          <a:p>
            <a:pPr lvl="0"/>
            <a:r>
              <a:rPr/>
              <a:t>PUT, DELETE, …</a:t>
            </a:r>
            <a:br/>
          </a:p>
          <a:p>
            <a:pPr lvl="0"/>
            <a:r>
              <a:rPr/>
              <a:t>all requests/replies have many possible headers</a:t>
            </a:r>
          </a:p>
          <a:p>
            <a:pPr lvl="1"/>
            <a:r>
              <a:rPr/>
              <a:t>filetype inforation</a:t>
            </a:r>
          </a:p>
          <a:p>
            <a:pPr lvl="1"/>
            <a:r>
              <a:rPr/>
              <a:t>login-related information (usually)</a:t>
            </a:r>
          </a:p>
          <a:p>
            <a:pPr lvl="1"/>
            <a:r>
              <a:rPr/>
              <a:t>metadata used for caching webpages</a:t>
            </a:r>
          </a:p>
          <a:p>
            <a:pPr lvl="1"/>
            <a:r>
              <a:rPr/>
              <a:t>…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NAT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IPv4 and IPv6?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ran out of IPv4 addresses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e>
                        <m:r>
                          <m:t>2</m:t>
                        </m:r>
                      </m:e>
                      <m:sup>
                        <m:r>
                          <m:t>32</m:t>
                        </m:r>
                      </m:sup>
                    </m:sSup>
                  </m:oMath>
                </a14:m>
                <a:r>
                  <a:rPr/>
                  <a:t> seemed like a lot of addresses</a:t>
                </a:r>
              </a:p>
              <a:p>
                <a:pPr lvl="1"/>
                <a:r>
                  <a:rPr/>
                  <a:t>now there are more internet users than addresses</a:t>
                </a:r>
              </a:p>
              <a:p>
                <a:pPr lvl="0"/>
                <a:r>
                  <a:rPr/>
                  <a:t>possible solutions: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\begin{enumerate}
 \item{} IPv6: use more bits for addresses, enough to never run out \item{} NAT: user one IPv4 address for an entire network of devices 
\end{enumerate}</a:t>
                </a:r>
              </a:p>
            </p:txBody>
          </p:sp>
        </mc:Choice>
      </mc:AlternateContent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NAT: network address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convert many private addrs. to one public addr.</a:t>
            </a:r>
          </a:p>
          <a:p>
            <a:pPr lvl="0"/>
            <a:r>
              <a:rPr/>
              <a:t>locally: use private IP addresses for local addresses</a:t>
            </a:r>
          </a:p>
          <a:p>
            <a:pPr lvl="0"/>
            <a:r>
              <a:rPr/>
              <a:t>outside: private IP addresses become a single public one</a:t>
            </a:r>
          </a:p>
          <a:p>
            <a:pPr lvl="0"/>
            <a:r>
              <a:rPr/>
              <a:t>commonly how home networks work (and some ISPs)</a:t>
            </a:r>
          </a:p>
          <a:p>
            <a:pPr lvl="0"/>
            <a:r>
              <a:rPr/>
              <a:t>certain IPv4 address blocks reserved for private/internal use</a:t>
            </a:r>
          </a:p>
          <a:p>
            <a:pPr lvl="1"/>
            <a:r>
              <a:rPr/>
              <a:t>192.168.X.X</a:t>
            </a:r>
          </a:p>
          <a:p>
            <a:pPr lvl="1"/>
            <a:r>
              <a:rPr/>
              <a:t>172.16.X.X–172.31.X.X</a:t>
            </a:r>
          </a:p>
          <a:p>
            <a:pPr lvl="1"/>
            <a:r>
              <a:rPr/>
              <a:t>10.X.X.X</a:t>
            </a:r>
          </a:p>
          <a:p>
            <a:pPr lvl="1"/>
            <a:r>
              <a:rPr/>
              <a:t>…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 idea</a:t>
            </a:r>
          </a:p>
        </p:txBody>
      </p:sp>
      <p:pic>
        <p:nvPicPr>
          <p:cNvPr descr="../network/texfig/nat-nat-idea.fig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4200" y="1193800"/>
            <a:ext cx="7988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 illusion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NAT illusion:</a:t>
            </a:r>
          </a:p>
          <a:p>
            <a:pPr lvl="0"/>
            <a:r>
              <a:rPr/>
              <a:t>private IP address communicating directly with public IP</a:t>
            </a:r>
          </a:p>
          <a:p>
            <a:pPr lvl="0"/>
            <a:r>
              <a:rPr/>
              <a:t>inside network, talking to outside:</a:t>
            </a:r>
          </a:p>
          <a:p>
            <a:pPr lvl="1"/>
            <a:r>
              <a:rPr/>
              <a:t>use private local address</a:t>
            </a:r>
          </a:p>
          <a:p>
            <a:pPr lvl="1"/>
            <a:r>
              <a:rPr/>
              <a:t>use public remote address</a:t>
            </a:r>
          </a:p>
          <a:p>
            <a:pPr lvl="1"/>
            <a:r>
              <a:rPr/>
              <a:t>never see router’s address</a:t>
            </a:r>
          </a:p>
          <a:p>
            <a:pPr lvl="0"/>
            <a:r>
              <a:rPr/>
              <a:t>outside network, talking to inside</a:t>
            </a:r>
          </a:p>
          <a:p>
            <a:pPr lvl="1"/>
            <a:r>
              <a:rPr/>
              <a:t>use public local address</a:t>
            </a:r>
          </a:p>
          <a:p>
            <a:pPr lvl="1"/>
            <a:r>
              <a:rPr/>
              <a:t>use router’s public address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implementing NAT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remote host + port</a:t>
            </a:r>
          </a:p>
          <a:p>
            <a:pPr lvl="0" indent="0" marL="0">
              <a:buNone/>
            </a:pPr>
            <a:r>
              <a:rPr/>
              <a:t>outside local port number</a:t>
            </a:r>
          </a:p>
          <a:p>
            <a:pPr lvl="0" indent="0" marL="0">
              <a:buNone/>
            </a:pPr>
            <a:r>
              <a:rPr/>
              <a:t>inside IP</a:t>
            </a:r>
          </a:p>
          <a:p>
            <a:pPr lvl="0" indent="0" marL="0">
              <a:buNone/>
            </a:pPr>
            <a:r>
              <a:rPr/>
              <a:t>inside port number</a:t>
            </a:r>
          </a:p>
          <a:p>
            <a:pPr lvl="0" indent="0" marL="0">
              <a:buNone/>
            </a:pPr>
            <a:r>
              <a:rPr/>
              <a:t>128.148.17.3:443</a:t>
            </a:r>
          </a:p>
          <a:p>
            <a:pPr lvl="0" indent="0" marL="0">
              <a:buNone/>
            </a:pPr>
            <a:r>
              <a:rPr/>
              <a:t>54033</a:t>
            </a:r>
          </a:p>
          <a:p>
            <a:pPr lvl="0" indent="0" marL="0">
              <a:buNone/>
            </a:pPr>
            <a:r>
              <a:rPr/>
              <a:t>192.168.1.5</a:t>
            </a:r>
          </a:p>
          <a:p>
            <a:pPr lvl="0" indent="0" marL="0">
              <a:buNone/>
            </a:pPr>
            <a:r>
              <a:rPr/>
              <a:t>43222</a:t>
            </a:r>
          </a:p>
          <a:p>
            <a:pPr lvl="0" indent="0" marL="0">
              <a:buNone/>
            </a:pPr>
            <a:r>
              <a:rPr/>
              <a:t>11.7.17.3:443</a:t>
            </a:r>
          </a:p>
          <a:p>
            <a:pPr lvl="0" indent="0" marL="0">
              <a:buNone/>
            </a:pPr>
            <a:r>
              <a:rPr/>
              <a:t>53037</a:t>
            </a:r>
          </a:p>
          <a:p>
            <a:pPr lvl="0" indent="0" marL="0">
              <a:buNone/>
            </a:pPr>
            <a:r>
              <a:rPr/>
              <a:t>192.168.1.5</a:t>
            </a:r>
          </a:p>
          <a:p>
            <a:pPr lvl="0" indent="0" marL="0">
              <a:buNone/>
            </a:pPr>
            <a:r>
              <a:rPr/>
              <a:t>33212</a:t>
            </a:r>
          </a:p>
          <a:p>
            <a:pPr lvl="0" indent="0" marL="0">
              <a:buNone/>
            </a:pPr>
            <a:r>
              <a:rPr/>
              <a:t>128.148.31.2:22</a:t>
            </a:r>
          </a:p>
          <a:p>
            <a:pPr lvl="0" indent="0" marL="0">
              <a:buNone/>
            </a:pPr>
            <a:r>
              <a:rPr/>
              <a:t>54032</a:t>
            </a:r>
          </a:p>
          <a:p>
            <a:pPr lvl="0" indent="0" marL="0">
              <a:buNone/>
            </a:pPr>
            <a:r>
              <a:rPr/>
              <a:t>192.168.1.37</a:t>
            </a:r>
          </a:p>
          <a:p>
            <a:pPr lvl="0" indent="0" marL="0">
              <a:buNone/>
            </a:pPr>
            <a:r>
              <a:rPr/>
              <a:t>43010</a:t>
            </a:r>
          </a:p>
          <a:p>
            <a:pPr lvl="0" indent="0" marL="0">
              <a:buNone/>
            </a:pPr>
            <a:r>
              <a:rPr/>
              <a:t>128.148.17.3:443</a:t>
            </a:r>
          </a:p>
          <a:p>
            <a:pPr lvl="0" indent="0" marL="0">
              <a:buNone/>
            </a:pPr>
            <a:r>
              <a:rPr/>
              <a:t>63039</a:t>
            </a:r>
          </a:p>
          <a:p>
            <a:pPr lvl="0" indent="0" marL="0">
              <a:buNone/>
            </a:pPr>
            <a:r>
              <a:rPr/>
              <a:t>192.168.1.37</a:t>
            </a:r>
          </a:p>
          <a:p>
            <a:pPr lvl="0" indent="0" marL="0">
              <a:buNone/>
            </a:pPr>
            <a:r>
              <a:rPr/>
              <a:t>32132</a:t>
            </a:r>
          </a:p>
          <a:p>
            <a:pPr lvl="0"/>
            <a:r>
              <a:rPr/>
              <a:t>table of the translations</a:t>
            </a:r>
          </a:p>
          <a:p>
            <a:pPr lvl="0"/>
            <a:r>
              <a:rPr/>
              <a:t>need to update as new connections made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Backup slides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Perhaps the most successful computer application ever</a:t>
            </a:r>
          </a:p>
          <a:p>
            <a:pPr lvl="0"/>
            <a:r>
              <a:rPr/>
              <a:t>Can you name a computer program that doesn’t use the internet?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\begin{center}
![](/network/internet_users.png){}
\end{center}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\begin{center}
![](/network/internet_reasons.png){}
\end{center}</a:t>
            </a:r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\begin{center}
![](/network/internet_data.png){}
\end{center}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ethernet / 802.11 / 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Ethernet, Wi-Fi, Bluetooth, DOCSIS (cable modems), …</a:t>
            </a:r>
          </a:p>
          <a:p>
            <a:pPr lvl="0"/>
            <a:r>
              <a:rPr/>
              <a:t>allows send/recv messages to machines on ‘‘same’’ network segment</a:t>
            </a:r>
          </a:p>
          <a:p>
            <a:pPr lvl="1"/>
            <a:r>
              <a:rPr/>
              <a:t>typically: wireless range+channel or connected to a single switch/router</a:t>
            </a:r>
          </a:p>
          <a:p>
            <a:pPr lvl="1"/>
            <a:r>
              <a:rPr/>
              <a:t>could be larger (if bridging multiple network segments)</a:t>
            </a:r>
          </a:p>
          <a:p>
            <a:pPr lvl="1"/>
            <a:r>
              <a:rPr/>
              <a:t>could be smaller (switch/router uses ‘‘virtual LANs’’)</a:t>
            </a:r>
          </a:p>
          <a:p>
            <a:pPr lvl="0"/>
            <a:r>
              <a:rPr/>
              <a:t>typically: source+destination specified with MAC addresses</a:t>
            </a:r>
          </a:p>
          <a:p>
            <a:pPr lvl="1"/>
            <a:r>
              <a:rPr/>
              <a:t>MAC = media access control</a:t>
            </a:r>
          </a:p>
          <a:p>
            <a:pPr lvl="1"/>
            <a:r>
              <a:rPr/>
              <a:t>usually manufacturer assigned / hard-coded into device</a:t>
            </a:r>
          </a:p>
          <a:p>
            <a:pPr lvl="1"/>
            <a:r>
              <a:rPr/>
              <a:t>unique address per port/wifi transmitter/etc.</a:t>
            </a:r>
          </a:p>
          <a:p>
            <a:pPr lvl="0"/>
            <a:r>
              <a:rPr/>
              <a:t>can specify destination of ‘‘anyone’’ (called broadcast)</a:t>
            </a:r>
          </a:p>
          <a:p>
            <a:pPr lvl="0"/>
            <a:r>
              <a:rPr/>
              <a:t>messages usually called ‘‘frames’’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link layer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divide raw bits into messages</a:t>
            </a:r>
          </a:p>
          <a:p>
            <a:pPr lvl="0"/>
            <a:r>
              <a:rPr/>
              <a:t>identify who message is for on shared radio/wire</a:t>
            </a:r>
          </a:p>
          <a:p>
            <a:pPr lvl="0"/>
            <a:r>
              <a:rPr/>
              <a:t>handle if two+ machines use radio/wire at same time</a:t>
            </a:r>
          </a:p>
          <a:p>
            <a:pPr lvl="0"/>
            <a:r>
              <a:rPr/>
              <a:t>drop/resend messages if corruption detected</a:t>
            </a:r>
          </a:p>
          <a:p>
            <a:pPr lvl="1"/>
            <a:r>
              <a:rPr/>
              <a:t>resending more common in radio schemes (wifi, etc.)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exercise: why resend?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link layer reliablity?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Ethernet + Wifi have checksums</a:t>
            </a:r>
          </a:p>
          <a:p>
            <a:pPr lvl="0"/>
            <a:r>
              <a:rPr/>
              <a:t>Q1: Why doesn’t this give us uncorrupted messages?</a:t>
            </a:r>
          </a:p>
          <a:p>
            <a:pPr lvl="1"/>
            <a:r>
              <a:rPr/>
              <a:t>Why do we still have checksums at the higher layers?</a:t>
            </a:r>
          </a:p>
          <a:p>
            <a:pPr lvl="0"/>
            <a:r>
              <a:rPr/>
              <a:t>Q2: What’s a benefit of doing this if we’re also doing it in the higher layer?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link layer quality-of-service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link layer quality of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frame gets…  </a:t>
            </a:r>
          </a:p>
          <a:p>
            <a:pPr lvl="0" indent="0" marL="0">
              <a:buNone/>
            </a:pPr>
            <a:r>
              <a:rPr/>
              <a:t>event</a:t>
            </a:r>
          </a:p>
          <a:p>
            <a:pPr lvl="0" indent="0" marL="0">
              <a:buNone/>
            </a:pPr>
            <a:r>
              <a:rPr/>
              <a:t>on Ethernet</a:t>
            </a:r>
          </a:p>
          <a:p>
            <a:pPr lvl="0" indent="0" marL="0">
              <a:buNone/>
            </a:pPr>
            <a:r>
              <a:rPr/>
              <a:t>on WiFi</a:t>
            </a:r>
          </a:p>
          <a:p>
            <a:pPr lvl="0" indent="0" marL="0">
              <a:buNone/>
            </a:pPr>
            <a:r>
              <a:rPr/>
              <a:t>collides with another</a:t>
            </a:r>
          </a:p>
          <a:p>
            <a:pPr lvl="0" indent="0" marL="0">
              <a:buNone/>
            </a:pPr>
            <a:r>
              <a:rPr/>
              <a:t>detected + may resend</a:t>
            </a:r>
          </a:p>
          <a:p>
            <a:pPr lvl="0" indent="0" marL="0">
              <a:buNone/>
            </a:pPr>
            <a:r>
              <a:rPr/>
              <a:t>resend</a:t>
            </a:r>
          </a:p>
          <a:p>
            <a:pPr lvl="0" indent="0" marL="0">
              <a:buNone/>
            </a:pPr>
            <a:r>
              <a:rPr/>
              <a:t>not received</a:t>
            </a:r>
          </a:p>
          <a:p>
            <a:pPr lvl="0" indent="0" marL="0">
              <a:buNone/>
            </a:pPr>
            <a:r>
              <a:rPr/>
              <a:t>lose silently</a:t>
            </a:r>
          </a:p>
          <a:p>
            <a:pPr lvl="0" indent="0" marL="0">
              <a:buNone/>
            </a:pPr>
            <a:r>
              <a:rPr/>
              <a:t>resent</a:t>
            </a:r>
          </a:p>
          <a:p>
            <a:pPr lvl="0" indent="0" marL="0">
              <a:buNone/>
            </a:pPr>
            <a:r>
              <a:rPr/>
              <a:t>header corrupted</a:t>
            </a:r>
          </a:p>
          <a:p>
            <a:pPr lvl="0" indent="0" marL="0">
              <a:buNone/>
            </a:pPr>
            <a:r>
              <a:rPr/>
              <a:t>usually discard silently</a:t>
            </a:r>
          </a:p>
          <a:p>
            <a:pPr lvl="0" indent="0" marL="0">
              <a:buNone/>
            </a:pPr>
            <a:r>
              <a:rPr/>
              <a:t>usually resend</a:t>
            </a:r>
          </a:p>
          <a:p>
            <a:pPr lvl="0" indent="0" marL="0">
              <a:buNone/>
            </a:pPr>
            <a:r>
              <a:rPr/>
              <a:t>data corrupted</a:t>
            </a:r>
          </a:p>
          <a:p>
            <a:pPr lvl="0" indent="0" marL="0">
              <a:buNone/>
            </a:pPr>
            <a:r>
              <a:rPr/>
              <a:t>usually discard silently</a:t>
            </a:r>
          </a:p>
          <a:p>
            <a:pPr lvl="0" indent="0" marL="0">
              <a:buNone/>
            </a:pPr>
            <a:r>
              <a:rPr/>
              <a:t>usually resend</a:t>
            </a:r>
          </a:p>
          <a:p>
            <a:pPr lvl="0" indent="0" marL="0">
              <a:buNone/>
            </a:pPr>
            <a:r>
              <a:rPr/>
              <a:t>too long</a:t>
            </a:r>
          </a:p>
          <a:p>
            <a:pPr lvl="0" indent="0" marL="0">
              <a:buNone/>
            </a:pPr>
            <a:r>
              <a:rPr/>
              <a:t>not allowed to send</a:t>
            </a:r>
          </a:p>
          <a:p>
            <a:pPr lvl="0" indent="0" marL="0">
              <a:buNone/>
            </a:pPr>
            <a:r>
              <a:rPr/>
              <a:t>not allowed to send</a:t>
            </a:r>
          </a:p>
          <a:p>
            <a:pPr lvl="0" indent="0" marL="0">
              <a:buNone/>
            </a:pPr>
            <a:r>
              <a:rPr/>
              <a:t>reordered (v. other messages)</a:t>
            </a:r>
          </a:p>
          <a:p>
            <a:pPr lvl="0" indent="0" marL="0">
              <a:buNone/>
            </a:pPr>
            <a:r>
              <a:rPr/>
              <a:t>received out of order</a:t>
            </a:r>
          </a:p>
          <a:p>
            <a:pPr lvl="0" indent="0" marL="0">
              <a:buNone/>
            </a:pPr>
            <a:r>
              <a:rPr/>
              <a:t>received out of order</a:t>
            </a:r>
          </a:p>
          <a:p>
            <a:pPr lvl="0" indent="0" marL="0">
              <a:buNone/>
            </a:pPr>
            <a:r>
              <a:rPr/>
              <a:t>destination unknown</a:t>
            </a:r>
          </a:p>
          <a:p>
            <a:pPr lvl="0" indent="0" marL="0">
              <a:buNone/>
            </a:pPr>
            <a:r>
              <a:rPr/>
              <a:t>lose silently</a:t>
            </a:r>
          </a:p>
          <a:p>
            <a:pPr lvl="0" indent="0" marL="0">
              <a:buNone/>
            </a:pPr>
            <a:r>
              <a:rPr/>
              <a:t>usually resend??</a:t>
            </a:r>
          </a:p>
          <a:p>
            <a:pPr lvl="0" indent="0" marL="0">
              <a:buNone/>
            </a:pPr>
            <a:r>
              <a:rPr/>
              <a:t>too much being sent</a:t>
            </a:r>
          </a:p>
          <a:p>
            <a:pPr lvl="0" indent="0" marL="0">
              <a:buNone/>
            </a:pPr>
            <a:r>
              <a:rPr/>
              <a:t>discard excess?</a:t>
            </a:r>
          </a:p>
          <a:p>
            <a:pPr lvl="0" indent="0" marL="0">
              <a:buNone/>
            </a:pPr>
            <a:r>
              <a:rPr/>
              <a:t>discard excess?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network layer quality-of-service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 layer quality of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packet …  </a:t>
            </a:r>
          </a:p>
          <a:p>
            <a:pPr lvl="0" indent="0" marL="0">
              <a:buNone/>
            </a:pPr>
            <a:r>
              <a:rPr/>
              <a:t>event</a:t>
            </a:r>
          </a:p>
          <a:p>
            <a:pPr lvl="0" indent="0" marL="0">
              <a:buNone/>
            </a:pPr>
            <a:r>
              <a:rPr/>
              <a:t>on IPv4/v6</a:t>
            </a:r>
          </a:p>
          <a:p>
            <a:pPr lvl="0" indent="0" marL="0">
              <a:buNone/>
            </a:pPr>
            <a:r>
              <a:rPr/>
              <a:t>collides with another</a:t>
            </a:r>
          </a:p>
          <a:p>
            <a:pPr lvl="0" indent="0" marL="0">
              <a:buNone/>
            </a:pPr>
            <a:r>
              <a:rPr/>
              <a:t>out of scope — handled by link layer</a:t>
            </a:r>
          </a:p>
          <a:p>
            <a:pPr lvl="0" indent="0" marL="0">
              <a:buNone/>
            </a:pPr>
            <a:r>
              <a:rPr/>
              <a:t>not received\tikzmark{not recv}</a:t>
            </a:r>
          </a:p>
          <a:p>
            <a:pPr lvl="0" indent="0" marL="0">
              <a:buNone/>
            </a:pPr>
            <a:r>
              <a:rPr/>
              <a:t>lost silently</a:t>
            </a:r>
          </a:p>
          <a:p>
            <a:pPr lvl="0" indent="0" marL="0">
              <a:buNone/>
            </a:pPr>
            <a:r>
              <a:rPr/>
              <a:t>header corrupted</a:t>
            </a:r>
          </a:p>
          <a:p>
            <a:pPr lvl="0" indent="0" marL="0">
              <a:buNone/>
            </a:pPr>
            <a:r>
              <a:rPr/>
              <a:t>usually discarded silently</a:t>
            </a:r>
          </a:p>
          <a:p>
            <a:pPr lvl="0" indent="0" marL="0">
              <a:buNone/>
            </a:pPr>
            <a:r>
              <a:rPr/>
              <a:t>data corrupted</a:t>
            </a:r>
          </a:p>
          <a:p>
            <a:pPr lvl="0" indent="0" marL="0">
              <a:buNone/>
            </a:pPr>
            <a:r>
              <a:rPr/>
              <a:t>received corrupted</a:t>
            </a:r>
          </a:p>
          <a:p>
            <a:pPr lvl="0" indent="0" marL="0">
              <a:buNone/>
            </a:pPr>
            <a:r>
              <a:rPr/>
              <a:t>too long</a:t>
            </a:r>
          </a:p>
          <a:p>
            <a:pPr lvl="0" indent="0" marL="0">
              <a:buNone/>
            </a:pPr>
            <a:r>
              <a:rPr/>
              <a:t>dropped with notice or ‘‘fragmented’’ + recombined</a:t>
            </a:r>
          </a:p>
          <a:p>
            <a:pPr lvl="0" indent="0" marL="0">
              <a:buNone/>
            </a:pPr>
            <a:r>
              <a:rPr/>
              <a:t>reordered (v. other messages)</a:t>
            </a:r>
          </a:p>
          <a:p>
            <a:pPr lvl="0" indent="0" marL="0">
              <a:buNone/>
            </a:pPr>
            <a:r>
              <a:rPr/>
              <a:t>received out of order</a:t>
            </a:r>
          </a:p>
          <a:p>
            <a:pPr lvl="0" indent="0" marL="0">
              <a:buNone/>
            </a:pPr>
            <a:r>
              <a:rPr/>
              <a:t>destination unknown</a:t>
            </a:r>
          </a:p>
          <a:p>
            <a:pPr lvl="0" indent="0" marL="0">
              <a:buNone/>
            </a:pPr>
            <a:r>
              <a:rPr/>
              <a:t>usually dropped with notice</a:t>
            </a:r>
          </a:p>
          <a:p>
            <a:pPr lvl="0" indent="0" marL="0">
              <a:buNone/>
            </a:pPr>
            <a:r>
              <a:rPr/>
              <a:t>too much being sent</a:t>
            </a:r>
          </a:p>
          <a:p>
            <a:pPr lvl="0" indent="0" marL="0">
              <a:buNone/>
            </a:pPr>
            <a:r>
              <a:rPr/>
              <a:t>discard excess</a:t>
            </a:r>
          </a:p>
          <a:p>
            <a:pPr lvl="0" indent="0" marL="0">
              <a:buNone/>
            </a:pPr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firewalls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firewalls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don’t want to expose network service to everyone?</a:t>
            </a:r>
          </a:p>
          <a:p>
            <a:pPr lvl="0"/>
            <a:r>
              <a:rPr/>
              <a:t>solutions:</a:t>
            </a:r>
          </a:p>
          <a:p>
            <a:pPr lvl="1"/>
            <a:r>
              <a:rPr/>
              <a:t>service picky about who it accepts connections from</a:t>
            </a:r>
          </a:p>
          <a:p>
            <a:pPr lvl="1"/>
            <a:r>
              <a:rPr/>
              <a:t>filters in OS on machine with services</a:t>
            </a:r>
          </a:p>
          <a:p>
            <a:pPr lvl="1"/>
            <a:r>
              <a:rPr/>
              <a:t>filters on router</a:t>
            </a:r>
          </a:p>
          <a:p>
            <a:pPr lvl="0"/>
            <a:r>
              <a:rPr/>
              <a:t>later two called ‘‘firewalls’’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firewall rules examples?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ALLOW tcp port 443 (https) FROM everyone</a:t>
            </a:r>
          </a:p>
          <a:p>
            <a:pPr lvl="0"/>
            <a:r>
              <a:rPr/>
              <a:t>ALLOW tcp port 22 (ssh) FROM my desktop’s IP address</a:t>
            </a:r>
          </a:p>
          <a:p>
            <a:pPr lvl="0"/>
            <a:r>
              <a:rPr/>
              <a:t>BLOCK tcp port 22 (ssh) FROM everyone else</a:t>
            </a:r>
          </a:p>
          <a:p>
            <a:pPr lvl="0"/>
            <a:r>
              <a:rPr/>
              <a:t>ALLOW from address X to address Y</a:t>
            </a:r>
          </a:p>
          <a:p>
            <a:pPr lvl="0"/>
            <a:r>
              <a:rPr/>
              <a:t>…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aside: TCP state machine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 state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TIME_WAIT, ESTABLISHED, …?</a:t>
            </a:r>
          </a:p>
          <a:p>
            <a:pPr lvl="0"/>
            <a:r>
              <a:rPr/>
              <a:t>OS tracks ‘‘state’’ of TCP connection</a:t>
            </a:r>
          </a:p>
          <a:p>
            <a:pPr lvl="1"/>
            <a:r>
              <a:rPr/>
              <a:t>am I just starting the connection?</a:t>
            </a:r>
          </a:p>
          <a:p>
            <a:pPr lvl="1"/>
            <a:r>
              <a:rPr/>
              <a:t>is other end ready to get data?</a:t>
            </a:r>
          </a:p>
          <a:p>
            <a:pPr lvl="1"/>
            <a:r>
              <a:rPr/>
              <a:t>am I trying to close the connection?</a:t>
            </a:r>
          </a:p>
          <a:p>
            <a:pPr lvl="1"/>
            <a:r>
              <a:rPr/>
              <a:t>do I need to resend something?</a:t>
            </a:r>
          </a:p>
          <a:p>
            <a:pPr lvl="0"/>
            <a:r>
              <a:rPr/>
              <a:t>standardized set of state names</a:t>
            </a:r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TIME_WAIT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remember delayed messages?</a:t>
            </a:r>
          </a:p>
          <a:p>
            <a:pPr lvl="0"/>
            <a:r>
              <a:rPr/>
              <a:t>problem for TCP ports</a:t>
            </a:r>
          </a:p>
          <a:p>
            <a:pPr lvl="0"/>
            <a:r>
              <a:rPr/>
              <a:t>if I reuse port number, I can get message from old connection</a:t>
            </a:r>
          </a:p>
          <a:p>
            <a:pPr lvl="0"/>
            <a:r>
              <a:rPr/>
              <a:t>solution: TIME_WAIT to make sure connection really done</a:t>
            </a:r>
          </a:p>
          <a:p>
            <a:pPr lvl="1"/>
            <a:r>
              <a:rPr/>
              <a:t>done after sending last message in connection</a:t>
            </a:r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 state machine picture</a:t>
            </a:r>
          </a:p>
        </p:txBody>
      </p:sp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DNS: DIG trace</a:t>
            </a:r>
          </a:p>
        </p:txBody>
      </p:sp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querying the root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$ dig +trace +all www.cs.virginia.edu
...
edu.            172800  IN  NS  b.edu-servers.net.
edu.            172800  IN  NS  f.edu-servers.net.
edu.            172800  IN  NS  i.edu-servers.net.
edu.            172800  IN  NS  a.edu-servers.net.
...
b.edu-servers.net.  172800  IN  A   191.33.14.30
b.edu-servers.net.  172800  IN  AAAA    2001:503:231d::2:30
f.edu-servers.net.  172800  IN  A   192.35.51.30
f.edu-servers.net.  172800  IN  AAAA    2001:503:d414::30
...
;; Received 843 bytes from 198.97.190.53#53(h.root-servers.net) in 8 ms
...
</a:t>
            </a:r>
          </a:p>
        </p:txBody>
      </p:sp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querying the edu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$ dig +trace +all www.cs.virginia.edu
...
virginia.edu.       172800  IN  NS  nom.virginia.edu.
virginia.edu.       172800  IN  NS  uvaarpa.virginia.edu.
virginia.edu.       172800  IN  NS  eip-01-aws.net.virginia.edu.
nom.virginia.edu.   172800  IN  A   128.143.107.101
uvaarpa.virginia.edu.   172800  IN  A   128.143.107.117
eip-01-aws.net.virginia.edu. 172800 IN  A   44.234.207.10
;; Received 165 bytes from 192.26.92.30#53(c.edu-servers.net) in 40 ms
...
</a:t>
            </a:r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querying virginia.edu+cs.virginia.edu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$ dig +trace +all www.cs.virginia.edu
...
cs.virginia.edu.    3600    IN  NS  coresrv01.cs.virginia.edu.
coresrv01.cs.virginia.edu. 3600 IN  A   128.143.67.11
;; Received 116 bytes from 44.234.207.10#53(eip-01-aws.net.virginia.edu) in 72 ms
www.cs.Virginia.EDU.    172800  IN  A   128.143.67.11
cs.Virginia.EDU.    172800  IN  NS  coresrv01.cs.Virginia.EDU.
coresrv01.cs.Virginia.EDU. 172800 IN    A   128.143.67.11
;; Received 151 bytes from 128.143.67.11#53(coresrv01.cs.virginia.edu) in 4 ms
</a:t>
            </a:r>
          </a:p>
        </p:txBody>
      </p:sp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querying typical ISP’s resolver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$ dig www.cs.virginia.edu
...
;; ANSWER SECTION:
www.cs.Virginia.EDU.      7183  IN  A   128.143.67.11
..
</a:t>
            </a:r>
          </a:p>
          <a:p>
            <a:pPr lvl="0"/>
            <a:r>
              <a:rPr/>
              <a:t>cached response</a:t>
            </a:r>
          </a:p>
          <a:p>
            <a:pPr lvl="0"/>
            <a:r>
              <a:rPr/>
              <a:t>valid for 7183 more seconds</a:t>
            </a:r>
          </a:p>
          <a:p>
            <a:pPr lvl="0"/>
            <a:r>
              <a:rPr/>
              <a:t>after that everyone needs to check again</a:t>
            </a:r>
          </a:p>
        </p:txBody>
      </p:sp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UDP sockets</a:t>
            </a:r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‘connected’ UDP sockets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int fd = socket(AF_INET, SOCK_DGRAM, 0);
struct sockaddr_in my_addr= ...;
/* set local IP address + port */
bind(fd, &amp;my_addr, sizeof(my_addr))
struct sockaddr_in to_addr = ...;
connect(fd, &amp;to_addr); /* set remote IP address + port */
    /* doesn't actually communicate with remote address yet */
...
int count = write(fd, data, data_size);
// OR
int count = send(fd, data, data_size, 0 /* flags */);
    /* single message -- sent ALL AT ONCE */
int count = read(fd, buffer, buffer_size);
// OR
int count = recv(fd, buffer, buffer_size, 0 /* flags */);
    /* receives whole single message ALL AT ONCE */
</a:t>
            </a:r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UDP sockets on IPv4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int fd = socket(AF_INET, SOCK_DGRAM, 0);
struct sockaddr_in my_addr= ...;
/* set local IP address + port */
if (0 != bind(fd, &amp;my_addr, sizeof(my_addr)))
    handle_error();
...
struct sockaddr_in to_addr = ...;
    /* send a message to specific address */
int bytes_sent = sendto(fd, data, data_size, 0 /* flags */,
    &amp;to_addr, sizeof(to_addr));
struct sockaddr_in from_addr = ...;
    /* receive a message + learn where it came from */
int bytes_recvd = recvfrom(fd, &amp;buffer[0], buffer_size, 0,
    &amp;from_addr, sizeof(from_addr));
...
</a:t>
            </a:r>
          </a:p>
        </p:txBody>
      </p:sp>
    </p:spTree>
  </p:cSld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ARP / IPv6 ND routing</a:t>
            </a:r>
          </a:p>
        </p:txBody>
      </p:sp>
    </p:spTree>
  </p:cSld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about non-local machines?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when configuring network specify:</a:t>
            </a:r>
          </a:p>
          <a:p>
            <a:pPr lvl="0"/>
            <a:r>
              <a:rPr/>
              <a:t>range of addresses to expect on local network</a:t>
            </a:r>
          </a:p>
          <a:p>
            <a:pPr lvl="1"/>
            <a:r>
              <a:rPr/>
              <a:t>128.148.67.0-128.148.67.255 on my desktop</a:t>
            </a:r>
          </a:p>
          <a:p>
            <a:pPr lvl="1"/>
            <a:r>
              <a:rPr/>
              <a:t>‘‘netmask’’</a:t>
            </a:r>
          </a:p>
          <a:p>
            <a:pPr lvl="0"/>
            <a:r>
              <a:rPr/>
              <a:t>gateway machine to send to for things outside my local network</a:t>
            </a:r>
          </a:p>
          <a:p>
            <a:pPr lvl="1"/>
            <a:r>
              <a:rPr/>
              <a:t>128.143.67.1 on my desktop</a:t>
            </a:r>
          </a:p>
          <a:p>
            <a:pPr lvl="1"/>
            <a:r>
              <a:rPr/>
              <a:t>my desktop looks up the corresponding MAC address</a:t>
            </a:r>
          </a:p>
        </p:txBody>
      </p:sp>
    </p:spTree>
  </p:cSld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routes on my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$ /sbin/route -n
Kernel IP routing table
Destination     Gateway         Genmask         Flags Metric Ref    Use Iface
0.0.0.0         128.143.67.1    0.0.0.0         UG    100    0        0 enp0s31f6
128.143.67.0    0.0.0.0         255.255.255.0   U     100    0        0 enp0s31f6
169.254.0.0     0.0.0.0         255.255.0.0     U     1000   0        0 enp0s31f6
</a:t>
            </a:r>
          </a:p>
          <a:p>
            <a:pPr lvl="0"/>
            <a:r>
              <a:rPr/>
              <a:t>network configuration says:</a:t>
            </a:r>
          </a:p>
          <a:p>
            <a:pPr lvl="0"/>
            <a:r>
              <a:rPr/>
              <a:t>(line 2) to get to 128.143.67.0–128.143.67.255, send directly on local network</a:t>
            </a:r>
          </a:p>
          <a:p>
            <a:pPr lvl="1"/>
            <a:r>
              <a:rPr/>
              <a:t>‘‘genmask’’ is mask (for bitwise operations) to specify how big range is</a:t>
            </a:r>
          </a:p>
          <a:p>
            <a:pPr lvl="0"/>
            <a:r>
              <a:rPr/>
              <a:t>(line 3) to get to 169.254.0.0–169.254.255.255, send directly on local network</a:t>
            </a:r>
          </a:p>
          <a:p>
            <a:pPr lvl="0"/>
            <a:r>
              <a:rPr/>
              <a:t>(line 1) to get anywhere else, use ‘‘gateway’’ 128.143.67.1</a:t>
            </a:r>
          </a:p>
        </p:txBody>
      </p:sp>
    </p:spTree>
  </p:cSld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ARP / IPv6 ND</a:t>
            </a:r>
          </a:p>
        </p:txBody>
      </p:sp>
    </p:spTree>
  </p:cSld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types of addresses?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MAC addreses: on link layer</a:t>
            </a:r>
          </a:p>
          <a:p>
            <a:pPr lvl="0"/>
            <a:r>
              <a:rPr/>
              <a:t>IP addresses: on network layer</a:t>
            </a:r>
          </a:p>
          <a:p>
            <a:pPr lvl="0"/>
            <a:r>
              <a:rPr/>
              <a:t>how do we know which MAC address to use?</a:t>
            </a:r>
          </a:p>
        </p:txBody>
      </p:sp>
    </p:spTree>
  </p:cSld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table on my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desktop: </a:t>
            </a:r>
          </a:p>
          <a:p>
            <a:pPr lvl="0" indent="0">
              <a:buNone/>
            </a:pPr>
            <a:r>
              <a:rPr>
                <a:latin typeface="Courier"/>
              </a:rPr>
              <a:t>$ arp -an
? (128.143.67.140) at 3c:e1:a1:18:bd:5f [ether] on enp0s31f6
? (128.143.67.236) at &lt;incomplete&gt; on enp0s31f6
? (128.143.67.11) at 30:e1:71:5f:39:10 [ether] on enp0s31f6
? (128.143.67.92) at &lt;incomplete&gt; on enp0s31f6
? (128.143.67.5) at d4:be:d9:b0:99:d1 [ether] on enp0s31f6
</a:t>
            </a:r>
          </a:p>
          <a:p>
            <a:pPr lvl="0" indent="0" marL="0">
              <a:buNone/>
            </a:pPr>
            <a:r>
              <a:rPr/>
              <a:t>…</a:t>
            </a:r>
          </a:p>
          <a:p>
            <a:pPr lvl="0"/>
            <a:r>
              <a:rPr/>
              <a:t>network address to link-layer address + interface</a:t>
            </a:r>
          </a:p>
          <a:p>
            <a:pPr lvl="0"/>
            <a:r>
              <a:rPr/>
              <a:t>only tracks things directly connected to my local network</a:t>
            </a:r>
          </a:p>
          <a:p>
            <a:pPr lvl="1"/>
            <a:r>
              <a:rPr/>
              <a:t>non-local traffic sent to local router</a:t>
            </a:r>
          </a:p>
        </p:txBody>
      </p:sp>
    </p:spTree>
  </p:cSld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is that table made?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ask all machines on local network (same switch)</a:t>
            </a:r>
          </a:p>
          <a:p>
            <a:pPr lvl="0"/>
            <a:r>
              <a:rPr/>
              <a:t>‘‘Who has 128.148.67.140’’</a:t>
            </a:r>
          </a:p>
          <a:p>
            <a:pPr lvl="0"/>
            <a:r>
              <a:rPr/>
              <a:t>the correct one replies</a:t>
            </a:r>
          </a:p>
        </p:txBody>
      </p:sp>
    </p:spTree>
  </p:cSld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and HTTP? (exercise)</a:t>
            </a:r>
          </a:p>
        </p:txBody>
      </p:sp>
    </p:spTree>
  </p:cSld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URLs and HTTP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http://www.foo.com:80/foo/bar?quux#q1</a:t>
            </a:r>
          </a:p>
          <a:p>
            <a:pPr lvl="0"/>
            <a:r>
              <a:rPr/>
              <a:t>lookup IP address of www.foo.com</a:t>
            </a:r>
          </a:p>
          <a:p>
            <a:pPr lvl="0"/>
            <a:r>
              <a:rPr/>
              <a:t>connect via TCP to port 80:</a:t>
            </a:r>
          </a:p>
          <a:p>
            <a:pPr lvl="0"/>
            <a:r>
              <a:rPr/>
              <a:t>exercise: why include the Host there?</a:t>
            </a:r>
          </a:p>
        </p:txBody>
      </p:sp>
    </p:spTree>
  </p:cSld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spoofing?</a:t>
            </a:r>
          </a:p>
        </p:txBody>
      </p:sp>
    </p:spTree>
  </p:cSld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spoofing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I only allow connections from my desktop’s IP addresses,  how would you attack this?</a:t>
            </a:r>
          </a:p>
          <a:p>
            <a:pPr lvl="0"/>
            <a:r>
              <a:rPr/>
              <a:t>hint: how do we know what address messages come from?</a:t>
            </a:r>
          </a:p>
        </p:txBody>
      </p:sp>
    </p:spTree>
  </p:cSld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example: echo client/server</a:t>
            </a:r>
          </a:p>
        </p:txBody>
      </p:sp>
    </p:spTree>
  </p:cSld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server setup</a:t>
            </a:r>
          </a:p>
        </p:txBody>
      </p:sp>
    </p:spTree>
  </p:cSld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 setup: server, manual</a:t>
            </a:r>
          </a:p>
        </p:txBody>
      </p:sp>
      <p:pic>
        <p:nvPicPr>
          <p:cNvPr descr="../network/texfig/conn-setup-server-manual.figure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38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client setup</a:t>
            </a:r>
          </a:p>
        </p:txBody>
      </p:sp>
    </p:spTree>
  </p:cSld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 setup: client — manual addresses</a:t>
            </a:r>
          </a:p>
        </p:txBody>
      </p:sp>
      <p:pic>
        <p:nvPicPr>
          <p:cNvPr descr="../network/texfig/conn-setup-client-manual.figure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38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read/write code</a:t>
            </a:r>
          </a:p>
        </p:txBody>
      </p:sp>
    </p:spTree>
  </p:cSld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echo client/server</a:t>
            </a:r>
          </a:p>
        </p:txBody>
      </p:sp>
    </p:spTree>
  </p:cSld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more normal connection setup</a:t>
            </a:r>
          </a:p>
        </p:txBody>
      </p:sp>
    </p:spTree>
  </p:cSld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 setup: server, address setup</a:t>
            </a:r>
          </a:p>
        </p:txBody>
      </p:sp>
      <p:pic>
        <p:nvPicPr>
          <p:cNvPr descr="../network/texfig/connSetupServerLookup.figure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38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 setup: server, addrinfo</a:t>
            </a:r>
          </a:p>
        </p:txBody>
      </p:sp>
    </p:spTree>
  </p:cSld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 setup: client, using addrinfo</a:t>
            </a:r>
          </a:p>
        </p:txBody>
      </p:sp>
      <p:pic>
        <p:nvPicPr>
          <p:cNvPr descr="../network/texfig/connSetupClientAddrInfo.figure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38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 setup: lookup address</a:t>
            </a:r>
          </a:p>
        </p:txBody>
      </p:sp>
      <p:pic>
        <p:nvPicPr>
          <p:cNvPr descr="../network/texfig/serverLookupClient.figure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38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other connection setup options</a:t>
            </a:r>
          </a:p>
        </p:txBody>
      </p:sp>
    </p:spTree>
  </p:cSld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 setup: multiple server addresses</a:t>
            </a:r>
          </a:p>
        </p:txBody>
      </p:sp>
      <p:pic>
        <p:nvPicPr>
          <p:cNvPr descr="../network/texfig/conn-setup-server-multi.figure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38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 setup: old lookup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/* example hostname, portnum= "www.cs.virginia.edu", 443*/
const char *hostname; int portnum;
...
struct hostent *server_ip;
server_ip = gethostbyname(hostname);
if (server_ip == NULL) { /* handle error */ }
struct sockaddr_in addr;
addr.s_addr = *(struct in_addr*) server_ip-&gt;h_addr_list[0];
addr.sin_port = htons(portnum);
sock_fd = socket(AF_INET, SOCK_STREAM, IPPROTO_TCP);
connect(sock_fd, &amp;addr, sizeof(addr));
...
</a:t>
            </a:r>
          </a:p>
        </p:txBody>
      </p:sp>
    </p:spTree>
  </p:cSld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aside: on server port numbers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Unix convention: must be root to use ports 0–1023</a:t>
                </a:r>
              </a:p>
              <a:p>
                <a:pPr lvl="1"/>
                <a:r>
                  <a:rPr/>
                  <a:t>root = superuser = ‘adminstrator user’ = what sudo does</a:t>
                </a:r>
              </a:p>
              <a:p>
                <a:pPr lvl="0"/>
                <a:r>
                  <a:rPr/>
                  <a:t>so, for testing: probably ports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&gt;</m:t>
                    </m:r>
                  </m:oMath>
                </a14:m>
                <a:r>
                  <a:rPr/>
                  <a:t> 1023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</dc:title>
  <dc:creator/>
  <cp:keywords/>
  <dcterms:created xsi:type="dcterms:W3CDTF">2026-03-26T16:08:01Z</dcterms:created>
  <dcterms:modified xsi:type="dcterms:W3CDTF">2026-03-26T16:08:01Z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chalkboard">
    <vt:lpwstr/>
  </property>
  <property fmtid="{D5CDD505-2E9C-101B-9397-08002B2CF9AE}" pid="4" name="header-includes">
    <vt:lpwstr/>
  </property>
  <property fmtid="{D5CDD505-2E9C-101B-9397-08002B2CF9AE}" pid="5" name="height">
    <vt:lpwstr>700</vt:lpwstr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margin">
    <vt:lpwstr>2.0e-2</vt:lpwstr>
  </property>
  <property fmtid="{D5CDD505-2E9C-101B-9397-08002B2CF9AE}" pid="10" name="navigation-mode">
    <vt:lpwstr>linear</vt:lpwstr>
  </property>
  <property fmtid="{D5CDD505-2E9C-101B-9397-08002B2CF9AE}" pid="11" name="progress">
    <vt:lpwstr>False</vt:lpwstr>
  </property>
  <property fmtid="{D5CDD505-2E9C-101B-9397-08002B2CF9AE}" pid="12" name="scrollable">
    <vt:lpwstr>True</vt:lpwstr>
  </property>
  <property fmtid="{D5CDD505-2E9C-101B-9397-08002B2CF9AE}" pid="13" name="slide-number">
    <vt:lpwstr>c</vt:lpwstr>
  </property>
  <property fmtid="{D5CDD505-2E9C-101B-9397-08002B2CF9AE}" pid="14" name="theme">
    <vt:lpwstr/>
  </property>
  <property fmtid="{D5CDD505-2E9C-101B-9397-08002B2CF9AE}" pid="15" name="toc-title">
    <vt:lpwstr>Table of contents</vt:lpwstr>
  </property>
  <property fmtid="{D5CDD505-2E9C-101B-9397-08002B2CF9AE}" pid="16" name="width">
    <vt:lpwstr>1050</vt:lpwstr>
  </property>
</Properties>
</file>